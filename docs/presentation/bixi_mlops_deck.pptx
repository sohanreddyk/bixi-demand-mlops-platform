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open (Sarah leads). We are The Bixi Crew. Our project forecasts 15-minute BIXI demand for every Montreal station, separately for departures and arrivals, and turns that into a rebalancing tool — productionised end-to-end on AWS. Four of us each own a part: I introduce the problem and the data, Louis covers the AWS structure, Othmane the modelling, Rui the rebalancing layer and the live app. Repo and two live demos are on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Sarah (1/3). BIXI has ~1,100+ stations. Bikes pile up downtown and vanish in residential areas, so riders hit empty or full docks. Operators rebalance with trucks but need foresight at operational resolution. The course-1 prototype was hourly and only the top ~400 stations — too coarse and partial. So we made four deliberate design choices: 15-minute resolution (4× finer), departures and arrivals predicted separately (their gap is the signal), all stations, and a leakage-safe, productionised platform.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Sarah (2/3). Sources: BIXI open-data trips for 2024 plus May and October 2025, joined to Open-Meteo 15-minute weather. We clean trips into a tidy 15-minute station-demand table, split into departures and arrivals. The heatmap is average demand by weekday and 15-minute slot over all stations: quiet overnight, building through midday, and busiest on weekday evenings. That structure is exactly what our time features capture.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Sarah (3/3). Features: cyclical slot-of-day, day-of-week and month; 2024 historical baselines (average plus recent-lag baselines) built leave-one-out; 15-minute weather; and advanced frequency + smoothed target encoding of the station name. Crucially everything is leakage-safe: a strict temporal split — train on 2024, validate on May-2025, test on Oct-2025 — with encoders and baselines fit on train only and applied forward. Over to Louis.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Louis (1/3). Everything is infrastructure-as-code. Push to GitHub triggers Actions CI: it runs pytest and builds both Docker images. AWS in us-east-2 is provisioned entirely by AWS CDK in four stacks — BixiNetwork (VPC), BixiStorage (S3 + SSM), BixiMlflow (MLflow on EC2 + S3), and BixiBatch (ECR + AWS Batch). AWS Batch runs python -m bixi.pipeline over the full dataset from s3://insy684. Serving is two Streamlit deployments — Community Cloud and an EC2 container. No credentials in git: default boto3 chain, SSO locally, IAM role in the cloud.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Louis (2/3). The pipeline is eight ordered stages: ingest, features, data, train, explain, fairness, drift, register. It is resumable — each stage writes a _SUCCESS marker to S3, so a run can restart from any step. The default run starts at data because cleaned data already lives in S3; a full rebuild starts at ingest. The same code runs on a local subsample and on AWS Batch, and CI smoke-tests the pipeline image with no AWS.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Louis (3/3). The repo mirrors the pipeline: single-responsibility modules in src/bixi, each owning one stage of the contract defined in config.py. It is config-driven — environment variables flip between a local subsample and the full cloud run with identical code. infra/ is the CDK app, docker/ pins the runtime, tests/ runs on synthetic data with no network. Clean, reproducible, and CI-gated. Othmane takes the modelling.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Othmane (1/5). Rather than hand-pick a model, we run a search: LightGBM and XGBoost baselines, FLAML AutoML, and Optuna Bayesian hyperparameter tuning, with every trial logged to MLflow. The best model by validation RMSE is selected and promoted automatically. Run once per target; both departures and arrivals independently land on lgbm_optuna — a consistent, reproducible winner.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Othmane (2/5). MLflow gives full traceability: a tracking server on EC2 with an S3 artifact store. The departure experiment has 73 runs, arrival 57 — every candidate, FLAML and Optuna trial with its params, metrics and model. The best run per target is registered and promoted to the production alias, which is exactly the artifact the apps serve.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Othmane (3/5). Results per split. 15-minute slot demand is genuinely noisy — many zero slots — so absolute R² is modest by design, but errors are well under one trip per slot. The tuned model beats a naive baseline on RMSE and R², it is stable across two unseen months (no overfitting), and its predictive power is concentrated exactly where it matters — busy stations.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Othmane (4/5). Explainability with SHAP and LIME on both models. The SHAP beeswarms show most signal comes from the 2024 historical baselines and cyclical time-of-day, with weather as a secondary driver — the same, sensible story for departures and arrivals. LIME explains individual predictions on demand.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Othmane (5/5). Responsible AI and monitoring. Fairness: we check error parity across demand tiers and geography — accuracy concentrates in high-demand stations and low-tier R² is near zero, which we surface so operators don’t over-trust quiet-station forecasts. And we run all four Evidently drift types — feature, target, prediction and concept — shown here on October-2025 data. Over to Rui.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Rui (1/3). The forecasts are only useful together. Net flow is arrival minus departure per station per 15-minute slot; cumulating it across the day gives a relative occupancy trajectory. From it we read each station’s peak deficit — needs bikes, stockout risk — and peak surplus — needs docks, overflow risk — then rank by severity. The map shows the pattern: the downtown core fills up and needs docks, the residential periphery drains and needs bikes.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Rui (2/3). This is the live Streamlit app — one shared UI, four pages: a multi-day 15-minute forecast, the rebalancing-priorities map with a ranked list and per-station trajectory, a custom what-if input page, and a model-monitoring page with the SHAP, fairness and drift artifacts. It runs on Community Cloud with committed artifacts (no AWS at runtime) and on an EC2 container backed by S3. Let’s look at it live.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Rui (3/3). The operational value: a daily ranked list of where to send a rebalancing truck first. The honest limitation — the trip data has no dock capacity or real-time occupancy, so the trajectory starts from a common zero and gives a relative ranking, not exact stockout times. On MLOps maturity we cover the full lifecycle — tracking, registry, explainability, fairness, four-type drift, CI, Docker and CDK. Next steps: a live station-status feed for absolute occupancy, and drift-triggered scheduled retrains.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close. Thank you — happy to take questions and walk through the live app. Repo and both live demos are on screen; the team is The Bixi Crew: Othmane, Sarah, Louis and Rui.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51560"/>
            <a:ext cx="10515600" cy="2377440"/>
          </a:xfrm>
          <a:prstGeom prst="rect">
            <a:avLst/>
          </a:prstGeom>
          <a:noFill/>
        </p:spPr>
        <p:txBody>
          <a:bodyPr wrap="square" anchor="t" lIns="0" rIns="0" tIns="0" bIns="0">
            <a:spAutoFit/>
          </a:bodyPr>
          <a:lstStyle/>
          <a:p>
            <a:pPr algn="l">
              <a:spcBef>
                <a:spcPts val="0"/>
              </a:spcBef>
              <a:spcAft>
                <a:spcPts val="800"/>
              </a:spcAft>
            </a:pPr>
            <a:r>
              <a:rPr sz="2000" b="1" i="0">
                <a:solidFill>
                  <a:srgbClr val="FCA5A5"/>
                </a:solidFill>
                <a:latin typeface="Calibri"/>
              </a:rPr>
              <a:t>THE BIXI CREW</a:t>
            </a:r>
          </a:p>
          <a:p>
            <a:pPr algn="l">
              <a:spcBef>
                <a:spcPts val="0"/>
              </a:spcBef>
              <a:spcAft>
                <a:spcPts val="600"/>
              </a:spcAft>
            </a:pPr>
            <a:r>
              <a:rPr sz="4000" b="1" i="0">
                <a:solidFill>
                  <a:srgbClr val="FFFFFF"/>
                </a:solidFill>
                <a:latin typeface="Calibri"/>
              </a:rPr>
              <a:t>BIXI Demand MLOps Platform</a:t>
            </a:r>
          </a:p>
          <a:p>
            <a:pPr algn="l">
              <a:spcBef>
                <a:spcPts val="0"/>
              </a:spcBef>
              <a:spcAft>
                <a:spcPts val="0"/>
              </a:spcAft>
            </a:pPr>
            <a:r>
              <a:rPr sz="1600" b="0" i="0">
                <a:solidFill>
                  <a:srgbClr val="D1D5DB"/>
                </a:solidFill>
                <a:latin typeface="Calibri"/>
              </a:rPr>
              <a:t>15-minute demand forecasting for every Montreal station — departures &amp; arrivals — productionised on AWS</a:t>
            </a:r>
          </a:p>
        </p:txBody>
      </p:sp>
      <p:sp>
        <p:nvSpPr>
          <p:cNvPr id="6" name="Rounded Rectangle 5"/>
          <p:cNvSpPr/>
          <p:nvPr/>
        </p:nvSpPr>
        <p:spPr>
          <a:xfrm>
            <a:off x="822960" y="3794760"/>
            <a:ext cx="2532888" cy="960120"/>
          </a:xfrm>
          <a:prstGeom prst="roundRect">
            <a:avLst>
              <a:gd name="adj" fmla="val 12000"/>
            </a:avLst>
          </a:prstGeom>
          <a:solidFill>
            <a:srgbClr val="1F2937"/>
          </a:solidFill>
          <a:ln w="12700">
            <a:solidFill>
              <a:srgbClr val="374151"/>
            </a:solidFill>
          </a:ln>
          <a:effectLst/>
        </p:spPr>
        <p:style>
          <a:lnRef idx="1">
            <a:schemeClr val="accent1"/>
          </a:lnRef>
          <a:fillRef idx="3">
            <a:schemeClr val="accent1"/>
          </a:fillRef>
          <a:effectRef idx="2">
            <a:schemeClr val="accent1"/>
          </a:effectRef>
          <a:fontRef idx="minor">
            <a:schemeClr val="lt1"/>
          </a:fontRef>
        </p:style>
        <p:txBody>
          <a:bodyPr rtlCol="0" anchor="ctr" lIns="128016"/>
          <a:lstStyle/>
          <a:p>
            <a:pPr algn="l">
              <a:spcBef>
                <a:spcPts val="0"/>
              </a:spcBef>
              <a:spcAft>
                <a:spcPts val="200"/>
              </a:spcAft>
            </a:pPr>
            <a:r>
              <a:rPr sz="1300" b="1" i="0">
                <a:solidFill>
                  <a:srgbClr val="FFFFFF"/>
                </a:solidFill>
                <a:latin typeface="Calibri"/>
              </a:rPr>
              <a:t>Othmane Zizi</a:t>
            </a:r>
          </a:p>
          <a:p>
            <a:pPr algn="l">
              <a:spcBef>
                <a:spcPts val="0"/>
              </a:spcBef>
              <a:spcAft>
                <a:spcPts val="0"/>
              </a:spcAft>
            </a:pPr>
            <a:r>
              <a:rPr sz="1100" b="0" i="0">
                <a:solidFill>
                  <a:srgbClr val="FCA5A5"/>
                </a:solidFill>
                <a:latin typeface="Consolas"/>
              </a:rPr>
              <a:t>@othmane-zizi-pro</a:t>
            </a:r>
          </a:p>
        </p:txBody>
      </p:sp>
      <p:sp>
        <p:nvSpPr>
          <p:cNvPr id="7" name="Rounded Rectangle 6"/>
          <p:cNvSpPr/>
          <p:nvPr/>
        </p:nvSpPr>
        <p:spPr>
          <a:xfrm>
            <a:off x="3520440" y="3794760"/>
            <a:ext cx="2532888" cy="960120"/>
          </a:xfrm>
          <a:prstGeom prst="roundRect">
            <a:avLst>
              <a:gd name="adj" fmla="val 12000"/>
            </a:avLst>
          </a:prstGeom>
          <a:solidFill>
            <a:srgbClr val="1F2937"/>
          </a:solidFill>
          <a:ln w="12700">
            <a:solidFill>
              <a:srgbClr val="374151"/>
            </a:solidFill>
          </a:ln>
          <a:effectLst/>
        </p:spPr>
        <p:style>
          <a:lnRef idx="1">
            <a:schemeClr val="accent1"/>
          </a:lnRef>
          <a:fillRef idx="3">
            <a:schemeClr val="accent1"/>
          </a:fillRef>
          <a:effectRef idx="2">
            <a:schemeClr val="accent1"/>
          </a:effectRef>
          <a:fontRef idx="minor">
            <a:schemeClr val="lt1"/>
          </a:fontRef>
        </p:style>
        <p:txBody>
          <a:bodyPr rtlCol="0" anchor="ctr" lIns="128016"/>
          <a:lstStyle/>
          <a:p>
            <a:pPr algn="l">
              <a:spcBef>
                <a:spcPts val="0"/>
              </a:spcBef>
              <a:spcAft>
                <a:spcPts val="200"/>
              </a:spcAft>
            </a:pPr>
            <a:r>
              <a:rPr sz="1300" b="1" i="0">
                <a:solidFill>
                  <a:srgbClr val="FFFFFF"/>
                </a:solidFill>
                <a:latin typeface="Calibri"/>
              </a:rPr>
              <a:t>Sarah Liu</a:t>
            </a:r>
          </a:p>
          <a:p>
            <a:pPr algn="l">
              <a:spcBef>
                <a:spcPts val="0"/>
              </a:spcBef>
              <a:spcAft>
                <a:spcPts val="0"/>
              </a:spcAft>
            </a:pPr>
            <a:r>
              <a:rPr sz="1100" b="0" i="0">
                <a:solidFill>
                  <a:srgbClr val="FCA5A5"/>
                </a:solidFill>
                <a:latin typeface="Consolas"/>
              </a:rPr>
              <a:t>@sarahliu-mma</a:t>
            </a:r>
          </a:p>
        </p:txBody>
      </p:sp>
      <p:sp>
        <p:nvSpPr>
          <p:cNvPr id="8" name="Rounded Rectangle 7"/>
          <p:cNvSpPr/>
          <p:nvPr/>
        </p:nvSpPr>
        <p:spPr>
          <a:xfrm>
            <a:off x="6217920" y="3794760"/>
            <a:ext cx="2532888" cy="960120"/>
          </a:xfrm>
          <a:prstGeom prst="roundRect">
            <a:avLst>
              <a:gd name="adj" fmla="val 12000"/>
            </a:avLst>
          </a:prstGeom>
          <a:solidFill>
            <a:srgbClr val="1F2937"/>
          </a:solidFill>
          <a:ln w="12700">
            <a:solidFill>
              <a:srgbClr val="374151"/>
            </a:solidFill>
          </a:ln>
          <a:effectLst/>
        </p:spPr>
        <p:style>
          <a:lnRef idx="1">
            <a:schemeClr val="accent1"/>
          </a:lnRef>
          <a:fillRef idx="3">
            <a:schemeClr val="accent1"/>
          </a:fillRef>
          <a:effectRef idx="2">
            <a:schemeClr val="accent1"/>
          </a:effectRef>
          <a:fontRef idx="minor">
            <a:schemeClr val="lt1"/>
          </a:fontRef>
        </p:style>
        <p:txBody>
          <a:bodyPr rtlCol="0" anchor="ctr" lIns="128016"/>
          <a:lstStyle/>
          <a:p>
            <a:pPr algn="l">
              <a:spcBef>
                <a:spcPts val="0"/>
              </a:spcBef>
              <a:spcAft>
                <a:spcPts val="200"/>
              </a:spcAft>
            </a:pPr>
            <a:r>
              <a:rPr sz="1300" b="1" i="0">
                <a:solidFill>
                  <a:srgbClr val="FFFFFF"/>
                </a:solidFill>
                <a:latin typeface="Calibri"/>
              </a:rPr>
              <a:t>Ruihe “Louis” Zhang</a:t>
            </a:r>
          </a:p>
          <a:p>
            <a:pPr algn="l">
              <a:spcBef>
                <a:spcPts val="0"/>
              </a:spcBef>
              <a:spcAft>
                <a:spcPts val="0"/>
              </a:spcAft>
            </a:pPr>
            <a:r>
              <a:rPr sz="1100" b="0" i="0">
                <a:solidFill>
                  <a:srgbClr val="FCA5A5"/>
                </a:solidFill>
                <a:latin typeface="Consolas"/>
              </a:rPr>
              <a:t>@Mudkipython</a:t>
            </a:r>
          </a:p>
        </p:txBody>
      </p:sp>
      <p:sp>
        <p:nvSpPr>
          <p:cNvPr id="9" name="Rounded Rectangle 8"/>
          <p:cNvSpPr/>
          <p:nvPr/>
        </p:nvSpPr>
        <p:spPr>
          <a:xfrm>
            <a:off x="8915400" y="3794760"/>
            <a:ext cx="2532888" cy="960120"/>
          </a:xfrm>
          <a:prstGeom prst="roundRect">
            <a:avLst>
              <a:gd name="adj" fmla="val 12000"/>
            </a:avLst>
          </a:prstGeom>
          <a:solidFill>
            <a:srgbClr val="1F2937"/>
          </a:solidFill>
          <a:ln w="12700">
            <a:solidFill>
              <a:srgbClr val="374151"/>
            </a:solidFill>
          </a:ln>
          <a:effectLst/>
        </p:spPr>
        <p:style>
          <a:lnRef idx="1">
            <a:schemeClr val="accent1"/>
          </a:lnRef>
          <a:fillRef idx="3">
            <a:schemeClr val="accent1"/>
          </a:fillRef>
          <a:effectRef idx="2">
            <a:schemeClr val="accent1"/>
          </a:effectRef>
          <a:fontRef idx="minor">
            <a:schemeClr val="lt1"/>
          </a:fontRef>
        </p:style>
        <p:txBody>
          <a:bodyPr rtlCol="0" anchor="ctr" lIns="128016"/>
          <a:lstStyle/>
          <a:p>
            <a:pPr algn="l">
              <a:spcBef>
                <a:spcPts val="0"/>
              </a:spcBef>
              <a:spcAft>
                <a:spcPts val="200"/>
              </a:spcAft>
            </a:pPr>
            <a:r>
              <a:rPr sz="1300" b="1" i="0">
                <a:solidFill>
                  <a:srgbClr val="FFFFFF"/>
                </a:solidFill>
                <a:latin typeface="Calibri"/>
              </a:rPr>
              <a:t>Rui Zhao</a:t>
            </a:r>
          </a:p>
          <a:p>
            <a:pPr algn="l">
              <a:spcBef>
                <a:spcPts val="0"/>
              </a:spcBef>
              <a:spcAft>
                <a:spcPts val="0"/>
              </a:spcAft>
            </a:pPr>
            <a:r>
              <a:rPr sz="1100" b="0" i="0">
                <a:solidFill>
                  <a:srgbClr val="FCA5A5"/>
                </a:solidFill>
                <a:latin typeface="Consolas"/>
              </a:rPr>
              <a:t>@ruizhaoca</a:t>
            </a:r>
          </a:p>
        </p:txBody>
      </p:sp>
      <p:sp>
        <p:nvSpPr>
          <p:cNvPr id="10" name="TextBox 9"/>
          <p:cNvSpPr txBox="1"/>
          <p:nvPr/>
        </p:nvSpPr>
        <p:spPr>
          <a:xfrm>
            <a:off x="822960" y="5074920"/>
            <a:ext cx="10515600" cy="1188720"/>
          </a:xfrm>
          <a:prstGeom prst="rect">
            <a:avLst/>
          </a:prstGeom>
          <a:noFill/>
        </p:spPr>
        <p:txBody>
          <a:bodyPr wrap="square" anchor="t" lIns="0" rIns="0" tIns="0" bIns="0">
            <a:spAutoFit/>
          </a:bodyPr>
          <a:lstStyle/>
          <a:p>
            <a:r>
              <a:rPr sz="1250" b="1" i="0">
                <a:solidFill>
                  <a:srgbClr val="9CA3AF"/>
                </a:solidFill>
                <a:latin typeface="Calibri"/>
              </a:rPr>
              <a:t>Repository   </a:t>
            </a:r>
            <a:r>
              <a:rPr sz="1250" b="0" i="0">
                <a:solidFill>
                  <a:srgbClr val="FFFFFF"/>
                </a:solidFill>
                <a:latin typeface="Consolas"/>
              </a:rPr>
              <a:t>github.com/ruizhaoca/bixi-demand-mlops-platform</a:t>
            </a:r>
          </a:p>
          <a:p>
            <a:pPr algn="l">
              <a:spcBef>
                <a:spcPts val="0"/>
              </a:spcBef>
              <a:spcAft>
                <a:spcPts val="0"/>
              </a:spcAft>
            </a:pPr>
            <a:r>
              <a:rPr sz="600" b="0" i="0">
                <a:solidFill>
                  <a:srgbClr val="111827"/>
                </a:solidFill>
                <a:latin typeface="Calibri"/>
              </a:rPr>
              <a:t/>
            </a:r>
          </a:p>
          <a:p>
            <a:r>
              <a:rPr sz="1250" b="1" i="0">
                <a:solidFill>
                  <a:srgbClr val="9CA3AF"/>
                </a:solidFill>
                <a:latin typeface="Calibri"/>
              </a:rPr>
              <a:t>Live demo   </a:t>
            </a:r>
            <a:r>
              <a:rPr sz="1250" b="0" i="0">
                <a:solidFill>
                  <a:srgbClr val="FFFFFF"/>
                </a:solidFill>
                <a:latin typeface="Consolas"/>
              </a:rPr>
              <a:t>bixidemandlocal.streamlit.app</a:t>
            </a:r>
            <a:r>
              <a:rPr sz="1250" b="1" i="0">
                <a:solidFill>
                  <a:srgbClr val="9CA3AF"/>
                </a:solidFill>
                <a:latin typeface="Calibri"/>
              </a:rPr>
              <a:t>      EC2   </a:t>
            </a:r>
            <a:r>
              <a:rPr sz="1250" b="0" i="0">
                <a:solidFill>
                  <a:srgbClr val="FFFFFF"/>
                </a:solidFill>
                <a:latin typeface="Consolas"/>
              </a:rPr>
              <a:t>3.16.250.166:8501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0F766E"/>
                </a:solidFill>
                <a:latin typeface="Calibri"/>
              </a:rPr>
              <a:t>INTRODUCTION &amp; BUSINESS VALUE</a:t>
            </a:r>
          </a:p>
          <a:p>
            <a:pPr algn="l">
              <a:spcBef>
                <a:spcPts val="0"/>
              </a:spcBef>
              <a:spcAft>
                <a:spcPts val="0"/>
              </a:spcAft>
            </a:pPr>
            <a:r>
              <a:rPr sz="2700" b="1" i="0">
                <a:solidFill>
                  <a:srgbClr val="111827"/>
                </a:solidFill>
                <a:latin typeface="Calibri"/>
              </a:rPr>
              <a:t>The rebalancing problem — and why our design fits it</a:t>
            </a:r>
          </a:p>
        </p:txBody>
      </p:sp>
      <p:sp>
        <p:nvSpPr>
          <p:cNvPr id="4" name="Rounded Rectangle 3"/>
          <p:cNvSpPr/>
          <p:nvPr/>
        </p:nvSpPr>
        <p:spPr>
          <a:xfrm>
            <a:off x="9402775" y="384048"/>
            <a:ext cx="2286000" cy="42062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Sarah Liu</a:t>
            </a:r>
          </a:p>
        </p:txBody>
      </p:sp>
      <p:sp>
        <p:nvSpPr>
          <p:cNvPr id="5" name="TextBox 4"/>
          <p:cNvSpPr txBox="1"/>
          <p:nvPr/>
        </p:nvSpPr>
        <p:spPr>
          <a:xfrm>
            <a:off x="502920" y="1600200"/>
            <a:ext cx="5486400" cy="4754880"/>
          </a:xfrm>
          <a:prstGeom prst="rect">
            <a:avLst/>
          </a:prstGeom>
          <a:noFill/>
        </p:spPr>
        <p:txBody>
          <a:bodyPr wrap="square" anchor="t" lIns="0" rIns="0" tIns="0" bIns="0">
            <a:spAutoFit/>
          </a:bodyPr>
          <a:lstStyle/>
          <a:p>
            <a:pPr algn="l">
              <a:spcBef>
                <a:spcPts val="0"/>
              </a:spcBef>
              <a:spcAft>
                <a:spcPts val="600"/>
              </a:spcAft>
            </a:pPr>
            <a:r>
              <a:rPr sz="1500" b="1" i="0">
                <a:solidFill>
                  <a:srgbClr val="0F766E"/>
                </a:solidFill>
                <a:latin typeface="Calibri"/>
              </a:rPr>
              <a:t>The operational pain</a:t>
            </a:r>
          </a:p>
          <a:p>
            <a:pPr algn="l">
              <a:lnSpc>
                <a:spcPct val="105000"/>
              </a:lnSpc>
              <a:spcBef>
                <a:spcPts val="0"/>
              </a:spcBef>
              <a:spcAft>
                <a:spcPts val="900"/>
              </a:spcAft>
            </a:pPr>
            <a:r>
              <a:rPr sz="1300" b="1" i="0">
                <a:solidFill>
                  <a:srgbClr val="B91C1C"/>
                </a:solidFill>
                <a:latin typeface="Calibri"/>
              </a:rPr>
              <a:t>●  </a:t>
            </a:r>
            <a:r>
              <a:rPr sz="1300" b="0" i="0">
                <a:solidFill>
                  <a:srgbClr val="1F2937"/>
                </a:solidFill>
                <a:latin typeface="Calibri"/>
              </a:rPr>
              <a:t>BIXI runs ~1,100+ stations. Bikes pile up downtown and run out in residential areas — riders find empty docks or no free dock.</a:t>
            </a:r>
          </a:p>
          <a:p>
            <a:pPr algn="l">
              <a:lnSpc>
                <a:spcPct val="105000"/>
              </a:lnSpc>
              <a:spcBef>
                <a:spcPts val="0"/>
              </a:spcBef>
              <a:spcAft>
                <a:spcPts val="900"/>
              </a:spcAft>
            </a:pPr>
            <a:r>
              <a:rPr sz="1300" b="1" i="0">
                <a:solidFill>
                  <a:srgbClr val="B91C1C"/>
                </a:solidFill>
                <a:latin typeface="Calibri"/>
              </a:rPr>
              <a:t>●  </a:t>
            </a:r>
            <a:r>
              <a:rPr sz="1300" b="0" i="0">
                <a:solidFill>
                  <a:srgbClr val="1F2937"/>
                </a:solidFill>
                <a:latin typeface="Calibri"/>
              </a:rPr>
              <a:t>Operators must move bikes by truck before pressure builds. That needs demand foresight at operational resolution, not daily totals.</a:t>
            </a:r>
          </a:p>
          <a:p>
            <a:pPr algn="l">
              <a:lnSpc>
                <a:spcPct val="105000"/>
              </a:lnSpc>
              <a:spcBef>
                <a:spcPts val="0"/>
              </a:spcBef>
              <a:spcAft>
                <a:spcPts val="900"/>
              </a:spcAft>
            </a:pPr>
            <a:r>
              <a:rPr sz="1300" b="1" i="0">
                <a:solidFill>
                  <a:srgbClr val="B91C1C"/>
                </a:solidFill>
                <a:latin typeface="Calibri"/>
              </a:rPr>
              <a:t>●  </a:t>
            </a:r>
            <a:r>
              <a:rPr sz="1300" b="0" i="0">
                <a:solidFill>
                  <a:srgbClr val="1F2937"/>
                </a:solidFill>
                <a:latin typeface="Calibri"/>
              </a:rPr>
              <a:t>A course-1 prototype predicted hourly demand for the top ~400 stations — too coarse and too partial to act on.</a:t>
            </a:r>
          </a:p>
        </p:txBody>
      </p:sp>
      <p:sp>
        <p:nvSpPr>
          <p:cNvPr id="6" name="TextBox 5"/>
          <p:cNvSpPr txBox="1"/>
          <p:nvPr/>
        </p:nvSpPr>
        <p:spPr>
          <a:xfrm>
            <a:off x="6355080" y="1600200"/>
            <a:ext cx="5303520" cy="4754880"/>
          </a:xfrm>
          <a:prstGeom prst="rect">
            <a:avLst/>
          </a:prstGeom>
          <a:noFill/>
        </p:spPr>
        <p:txBody>
          <a:bodyPr wrap="square" anchor="t" lIns="0" rIns="0" tIns="0" bIns="0">
            <a:spAutoFit/>
          </a:bodyPr>
          <a:lstStyle/>
          <a:p>
            <a:pPr algn="l">
              <a:spcBef>
                <a:spcPts val="0"/>
              </a:spcBef>
              <a:spcAft>
                <a:spcPts val="600"/>
              </a:spcAft>
            </a:pPr>
            <a:r>
              <a:rPr sz="1500" b="1" i="0">
                <a:solidFill>
                  <a:srgbClr val="0F766E"/>
                </a:solidFill>
                <a:latin typeface="Calibri"/>
              </a:rPr>
              <a:t>Our design choices</a:t>
            </a:r>
          </a:p>
          <a:p>
            <a:pPr algn="l">
              <a:spcBef>
                <a:spcPts val="0"/>
              </a:spcBef>
              <a:spcAft>
                <a:spcPts val="100"/>
              </a:spcAft>
            </a:pPr>
            <a:r>
              <a:rPr sz="1300" b="1" i="0">
                <a:solidFill>
                  <a:srgbClr val="B91C1C"/>
                </a:solidFill>
                <a:latin typeface="Calibri"/>
              </a:rPr>
              <a:t>▸  </a:t>
            </a:r>
            <a:r>
              <a:rPr sz="1300" b="1" i="0">
                <a:solidFill>
                  <a:srgbClr val="111827"/>
                </a:solidFill>
                <a:latin typeface="Calibri"/>
              </a:rPr>
              <a:t>15-minute resolution</a:t>
            </a:r>
          </a:p>
          <a:p>
            <a:pPr algn="l">
              <a:lnSpc>
                <a:spcPct val="102000"/>
              </a:lnSpc>
              <a:spcBef>
                <a:spcPts val="0"/>
              </a:spcBef>
              <a:spcAft>
                <a:spcPts val="800"/>
              </a:spcAft>
            </a:pPr>
            <a:r>
              <a:rPr sz="1150" b="0" i="0">
                <a:solidFill>
                  <a:srgbClr val="6B7280"/>
                </a:solidFill>
                <a:latin typeface="Calibri"/>
              </a:rPr>
              <a:t>4× finer than hourly — matches how fast a station empties.</a:t>
            </a:r>
          </a:p>
          <a:p>
            <a:pPr algn="l">
              <a:spcBef>
                <a:spcPts val="0"/>
              </a:spcBef>
              <a:spcAft>
                <a:spcPts val="100"/>
              </a:spcAft>
            </a:pPr>
            <a:r>
              <a:rPr sz="1300" b="1" i="0">
                <a:solidFill>
                  <a:srgbClr val="B91C1C"/>
                </a:solidFill>
                <a:latin typeface="Calibri"/>
              </a:rPr>
              <a:t>▸  </a:t>
            </a:r>
            <a:r>
              <a:rPr sz="1300" b="1" i="0">
                <a:solidFill>
                  <a:srgbClr val="111827"/>
                </a:solidFill>
                <a:latin typeface="Calibri"/>
              </a:rPr>
              <a:t>Departures vs arrivals, separately</a:t>
            </a:r>
          </a:p>
          <a:p>
            <a:pPr algn="l">
              <a:lnSpc>
                <a:spcPct val="102000"/>
              </a:lnSpc>
              <a:spcBef>
                <a:spcPts val="0"/>
              </a:spcBef>
              <a:spcAft>
                <a:spcPts val="800"/>
              </a:spcAft>
            </a:pPr>
            <a:r>
              <a:rPr sz="1150" b="0" i="0">
                <a:solidFill>
                  <a:srgbClr val="6B7280"/>
                </a:solidFill>
                <a:latin typeface="Calibri"/>
              </a:rPr>
              <a:t>one shared pipeline, run twice — the gap is the rebalancing signal.</a:t>
            </a:r>
          </a:p>
          <a:p>
            <a:pPr algn="l">
              <a:spcBef>
                <a:spcPts val="0"/>
              </a:spcBef>
              <a:spcAft>
                <a:spcPts val="100"/>
              </a:spcAft>
            </a:pPr>
            <a:r>
              <a:rPr sz="1300" b="1" i="0">
                <a:solidFill>
                  <a:srgbClr val="B91C1C"/>
                </a:solidFill>
                <a:latin typeface="Calibri"/>
              </a:rPr>
              <a:t>▸  </a:t>
            </a:r>
            <a:r>
              <a:rPr sz="1300" b="1" i="0">
                <a:solidFill>
                  <a:srgbClr val="111827"/>
                </a:solidFill>
                <a:latin typeface="Calibri"/>
              </a:rPr>
              <a:t>All ~1,100 stations</a:t>
            </a:r>
          </a:p>
          <a:p>
            <a:pPr algn="l">
              <a:lnSpc>
                <a:spcPct val="102000"/>
              </a:lnSpc>
              <a:spcBef>
                <a:spcPts val="0"/>
              </a:spcBef>
              <a:spcAft>
                <a:spcPts val="800"/>
              </a:spcAft>
            </a:pPr>
            <a:r>
              <a:rPr sz="1150" b="0" i="0">
                <a:solidFill>
                  <a:srgbClr val="6B7280"/>
                </a:solidFill>
                <a:latin typeface="Calibri"/>
              </a:rPr>
              <a:t>every station scored, not just the busy core.</a:t>
            </a:r>
          </a:p>
          <a:p>
            <a:pPr algn="l">
              <a:spcBef>
                <a:spcPts val="0"/>
              </a:spcBef>
              <a:spcAft>
                <a:spcPts val="100"/>
              </a:spcAft>
            </a:pPr>
            <a:r>
              <a:rPr sz="1300" b="1" i="0">
                <a:solidFill>
                  <a:srgbClr val="B91C1C"/>
                </a:solidFill>
                <a:latin typeface="Calibri"/>
              </a:rPr>
              <a:t>▸  </a:t>
            </a:r>
            <a:r>
              <a:rPr sz="1300" b="1" i="0">
                <a:solidFill>
                  <a:srgbClr val="111827"/>
                </a:solidFill>
                <a:latin typeface="Calibri"/>
              </a:rPr>
              <a:t>Leakage-safe &amp; productionised</a:t>
            </a:r>
          </a:p>
          <a:p>
            <a:pPr algn="l">
              <a:lnSpc>
                <a:spcPct val="102000"/>
              </a:lnSpc>
              <a:spcBef>
                <a:spcPts val="0"/>
              </a:spcBef>
              <a:spcAft>
                <a:spcPts val="800"/>
              </a:spcAft>
            </a:pPr>
            <a:r>
              <a:rPr sz="1150" b="0" i="0">
                <a:solidFill>
                  <a:srgbClr val="6B7280"/>
                </a:solidFill>
                <a:latin typeface="Calibri"/>
              </a:rPr>
              <a:t>honest evaluation, then served live as an MLOps platform.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0F766E"/>
                </a:solidFill>
                <a:latin typeface="Calibri"/>
              </a:rPr>
              <a:t>DATA ENGINEERING</a:t>
            </a:r>
          </a:p>
          <a:p>
            <a:pPr algn="l">
              <a:spcBef>
                <a:spcPts val="0"/>
              </a:spcBef>
              <a:spcAft>
                <a:spcPts val="0"/>
              </a:spcAft>
            </a:pPr>
            <a:r>
              <a:rPr sz="2700" b="1" i="0">
                <a:solidFill>
                  <a:srgbClr val="111827"/>
                </a:solidFill>
                <a:latin typeface="Calibri"/>
              </a:rPr>
              <a:t>Data: sources, cleaning &amp; what the demand looks like</a:t>
            </a:r>
          </a:p>
        </p:txBody>
      </p:sp>
      <p:sp>
        <p:nvSpPr>
          <p:cNvPr id="4" name="Rounded Rectangle 3"/>
          <p:cNvSpPr/>
          <p:nvPr/>
        </p:nvSpPr>
        <p:spPr>
          <a:xfrm>
            <a:off x="9402775" y="384048"/>
            <a:ext cx="2286000" cy="42062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Sarah Liu</a:t>
            </a:r>
          </a:p>
        </p:txBody>
      </p:sp>
      <p:sp>
        <p:nvSpPr>
          <p:cNvPr id="5" name="Rounded Rectangle 4"/>
          <p:cNvSpPr/>
          <p:nvPr/>
        </p:nvSpPr>
        <p:spPr>
          <a:xfrm>
            <a:off x="502920" y="1554480"/>
            <a:ext cx="2331720" cy="868680"/>
          </a:xfrm>
          <a:prstGeom prst="roundRect">
            <a:avLst>
              <a:gd name="adj" fmla="val 10000"/>
            </a:avLst>
          </a:prstGeom>
          <a:solidFill>
            <a:srgbClr val="F9FAFB"/>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200" b="1" i="0">
                <a:solidFill>
                  <a:srgbClr val="111827"/>
                </a:solidFill>
                <a:latin typeface="Calibri"/>
              </a:rPr>
              <a:t>BIXI open data</a:t>
            </a:r>
          </a:p>
          <a:p>
            <a:pPr algn="ctr">
              <a:spcBef>
                <a:spcPts val="100"/>
              </a:spcBef>
              <a:spcAft>
                <a:spcPts val="0"/>
              </a:spcAft>
            </a:pPr>
            <a:r>
              <a:rPr sz="950" b="0" i="0">
                <a:solidFill>
                  <a:srgbClr val="1F2937"/>
                </a:solidFill>
                <a:latin typeface="Calibri"/>
              </a:rPr>
              <a:t>2024 + May/Oct 2025 trips, all stations</a:t>
            </a:r>
          </a:p>
        </p:txBody>
      </p:sp>
      <p:sp>
        <p:nvSpPr>
          <p:cNvPr id="6" name="Rounded Rectangle 5"/>
          <p:cNvSpPr/>
          <p:nvPr/>
        </p:nvSpPr>
        <p:spPr>
          <a:xfrm>
            <a:off x="3063240" y="1554480"/>
            <a:ext cx="2286000" cy="868680"/>
          </a:xfrm>
          <a:prstGeom prst="roundRect">
            <a:avLst>
              <a:gd name="adj" fmla="val 10000"/>
            </a:avLst>
          </a:prstGeom>
          <a:solidFill>
            <a:srgbClr val="F9FAFB"/>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200" b="1" i="0">
                <a:solidFill>
                  <a:srgbClr val="111827"/>
                </a:solidFill>
                <a:latin typeface="Calibri"/>
              </a:rPr>
              <a:t>Open-Meteo weather</a:t>
            </a:r>
          </a:p>
          <a:p>
            <a:pPr algn="ctr">
              <a:spcBef>
                <a:spcPts val="100"/>
              </a:spcBef>
              <a:spcAft>
                <a:spcPts val="0"/>
              </a:spcAft>
            </a:pPr>
            <a:r>
              <a:rPr sz="950" b="0" i="0">
                <a:solidFill>
                  <a:srgbClr val="1F2937"/>
                </a:solidFill>
                <a:latin typeface="Calibri"/>
              </a:rPr>
              <a:t>15-min temp, precip, wind, humidity</a:t>
            </a:r>
          </a:p>
        </p:txBody>
      </p:sp>
      <p:cxnSp>
        <p:nvCxnSpPr>
          <p:cNvPr id="7" name="Connector 6"/>
          <p:cNvCxnSpPr/>
          <p:nvPr/>
        </p:nvCxnSpPr>
        <p:spPr>
          <a:xfrm>
            <a:off x="2834640" y="1984248"/>
            <a:ext cx="228600"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577840" y="1554480"/>
            <a:ext cx="2468880" cy="868680"/>
          </a:xfrm>
          <a:prstGeom prst="roundRect">
            <a:avLst>
              <a:gd name="adj" fmla="val 10000"/>
            </a:avLst>
          </a:prstGeom>
          <a:solidFill>
            <a:srgbClr val="F9FAFB"/>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200" b="1" i="0">
                <a:solidFill>
                  <a:srgbClr val="111827"/>
                </a:solidFill>
                <a:latin typeface="Calibri"/>
              </a:rPr>
              <a:t>Clean &amp; reshape</a:t>
            </a:r>
          </a:p>
          <a:p>
            <a:pPr algn="ctr">
              <a:spcBef>
                <a:spcPts val="100"/>
              </a:spcBef>
              <a:spcAft>
                <a:spcPts val="0"/>
              </a:spcAft>
            </a:pPr>
            <a:r>
              <a:rPr sz="950" b="0" i="0">
                <a:solidFill>
                  <a:srgbClr val="1F2937"/>
                </a:solidFill>
                <a:latin typeface="Calibri"/>
              </a:rPr>
              <a:t>trips → 15-min station demand; dep/arr split</a:t>
            </a:r>
          </a:p>
        </p:txBody>
      </p:sp>
      <p:cxnSp>
        <p:nvCxnSpPr>
          <p:cNvPr id="9" name="Connector 8"/>
          <p:cNvCxnSpPr/>
          <p:nvPr/>
        </p:nvCxnSpPr>
        <p:spPr>
          <a:xfrm>
            <a:off x="5349240" y="1984248"/>
            <a:ext cx="228600"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275320" y="1554480"/>
            <a:ext cx="3383280" cy="868680"/>
          </a:xfrm>
          <a:prstGeom prst="roundRect">
            <a:avLst>
              <a:gd name="adj" fmla="val 10000"/>
            </a:avLst>
          </a:prstGeom>
          <a:solidFill>
            <a:srgbClr val="ECFDF5"/>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200" b="1" i="0">
                <a:solidFill>
                  <a:srgbClr val="111827"/>
                </a:solidFill>
                <a:latin typeface="Calibri"/>
              </a:rPr>
              <a:t>Tidy 15-min demand table</a:t>
            </a:r>
          </a:p>
          <a:p>
            <a:pPr algn="ctr">
              <a:spcBef>
                <a:spcPts val="100"/>
              </a:spcBef>
              <a:spcAft>
                <a:spcPts val="0"/>
              </a:spcAft>
            </a:pPr>
            <a:r>
              <a:rPr sz="950" b="0" i="0">
                <a:solidFill>
                  <a:srgbClr val="1F2937"/>
                </a:solidFill>
                <a:latin typeface="Calibri"/>
              </a:rPr>
              <a:t>~1,100 stations × 96 daily slots × day-of-week</a:t>
            </a:r>
          </a:p>
        </p:txBody>
      </p:sp>
      <p:cxnSp>
        <p:nvCxnSpPr>
          <p:cNvPr id="11" name="Connector 10"/>
          <p:cNvCxnSpPr/>
          <p:nvPr/>
        </p:nvCxnSpPr>
        <p:spPr>
          <a:xfrm>
            <a:off x="8046720" y="1984248"/>
            <a:ext cx="228600"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1842333" y="2697480"/>
            <a:ext cx="8522572" cy="3566160"/>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da_demand_heatmap.png"/>
          <p:cNvPicPr>
            <a:picLocks noChangeAspect="1"/>
          </p:cNvPicPr>
          <p:nvPr/>
        </p:nvPicPr>
        <p:blipFill>
          <a:blip r:embed="rId2"/>
          <a:stretch>
            <a:fillRect/>
          </a:stretch>
        </p:blipFill>
        <p:spPr>
          <a:xfrm>
            <a:off x="1842333" y="2697480"/>
            <a:ext cx="8522572" cy="35661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0F766E"/>
                </a:solidFill>
                <a:latin typeface="Calibri"/>
              </a:rPr>
              <a:t>FEATURES &amp; HONEST EVALUATION</a:t>
            </a:r>
          </a:p>
          <a:p>
            <a:pPr algn="l">
              <a:spcBef>
                <a:spcPts val="0"/>
              </a:spcBef>
              <a:spcAft>
                <a:spcPts val="0"/>
              </a:spcAft>
            </a:pPr>
            <a:r>
              <a:rPr sz="2700" b="1" i="0">
                <a:solidFill>
                  <a:srgbClr val="111827"/>
                </a:solidFill>
                <a:latin typeface="Calibri"/>
              </a:rPr>
              <a:t>Feature engineering — informative and leakage-safe</a:t>
            </a:r>
          </a:p>
        </p:txBody>
      </p:sp>
      <p:sp>
        <p:nvSpPr>
          <p:cNvPr id="4" name="Rounded Rectangle 3"/>
          <p:cNvSpPr/>
          <p:nvPr/>
        </p:nvSpPr>
        <p:spPr>
          <a:xfrm>
            <a:off x="9402775" y="384048"/>
            <a:ext cx="2286000" cy="420624"/>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Sarah Liu</a:t>
            </a:r>
          </a:p>
        </p:txBody>
      </p:sp>
      <p:sp>
        <p:nvSpPr>
          <p:cNvPr id="5" name="TextBox 4"/>
          <p:cNvSpPr txBox="1"/>
          <p:nvPr/>
        </p:nvSpPr>
        <p:spPr>
          <a:xfrm>
            <a:off x="502920" y="1600200"/>
            <a:ext cx="5577840" cy="4754880"/>
          </a:xfrm>
          <a:prstGeom prst="rect">
            <a:avLst/>
          </a:prstGeom>
          <a:noFill/>
        </p:spPr>
        <p:txBody>
          <a:bodyPr wrap="square" anchor="t" lIns="0" rIns="0" tIns="0" bIns="0">
            <a:spAutoFit/>
          </a:bodyPr>
          <a:lstStyle/>
          <a:p>
            <a:pPr algn="l">
              <a:spcBef>
                <a:spcPts val="0"/>
              </a:spcBef>
              <a:spcAft>
                <a:spcPts val="600"/>
              </a:spcAft>
            </a:pPr>
            <a:r>
              <a:rPr sz="1500" b="1" i="0">
                <a:solidFill>
                  <a:srgbClr val="0F766E"/>
                </a:solidFill>
                <a:latin typeface="Calibri"/>
              </a:rPr>
              <a:t>Engineered features</a:t>
            </a:r>
          </a:p>
          <a:p>
            <a:pPr algn="l">
              <a:spcBef>
                <a:spcPts val="0"/>
              </a:spcBef>
              <a:spcAft>
                <a:spcPts val="100"/>
              </a:spcAft>
            </a:pPr>
            <a:r>
              <a:rPr sz="1250" b="1" i="0">
                <a:solidFill>
                  <a:srgbClr val="B91C1C"/>
                </a:solidFill>
                <a:latin typeface="Calibri"/>
              </a:rPr>
              <a:t>▸  </a:t>
            </a:r>
            <a:r>
              <a:rPr sz="1250" b="1" i="0">
                <a:solidFill>
                  <a:srgbClr val="111827"/>
                </a:solidFill>
                <a:latin typeface="Calibri"/>
              </a:rPr>
              <a:t>Cyclical time</a:t>
            </a:r>
          </a:p>
          <a:p>
            <a:pPr algn="l">
              <a:lnSpc>
                <a:spcPct val="102000"/>
              </a:lnSpc>
              <a:spcBef>
                <a:spcPts val="0"/>
              </a:spcBef>
              <a:spcAft>
                <a:spcPts val="600"/>
              </a:spcAft>
            </a:pPr>
            <a:r>
              <a:rPr sz="1100" b="0" i="0">
                <a:solidFill>
                  <a:srgbClr val="6B7280"/>
                </a:solidFill>
                <a:latin typeface="Calibri"/>
              </a:rPr>
              <a:t>slot-of-day (sin/cos), day-of-week, month — no false ordering.</a:t>
            </a:r>
          </a:p>
          <a:p>
            <a:pPr algn="l">
              <a:spcBef>
                <a:spcPts val="0"/>
              </a:spcBef>
              <a:spcAft>
                <a:spcPts val="100"/>
              </a:spcAft>
            </a:pPr>
            <a:r>
              <a:rPr sz="1250" b="1" i="0">
                <a:solidFill>
                  <a:srgbClr val="B91C1C"/>
                </a:solidFill>
                <a:latin typeface="Calibri"/>
              </a:rPr>
              <a:t>▸  </a:t>
            </a:r>
            <a:r>
              <a:rPr sz="1250" b="1" i="0">
                <a:solidFill>
                  <a:srgbClr val="111827"/>
                </a:solidFill>
                <a:latin typeface="Calibri"/>
              </a:rPr>
              <a:t>2024 profile baselines</a:t>
            </a:r>
          </a:p>
          <a:p>
            <a:pPr algn="l">
              <a:lnSpc>
                <a:spcPct val="102000"/>
              </a:lnSpc>
              <a:spcBef>
                <a:spcPts val="0"/>
              </a:spcBef>
              <a:spcAft>
                <a:spcPts val="600"/>
              </a:spcAft>
            </a:pPr>
            <a:r>
              <a:rPr sz="1100" b="0" i="0">
                <a:solidFill>
                  <a:srgbClr val="6B7280"/>
                </a:solidFill>
                <a:latin typeface="Calibri"/>
              </a:rPr>
              <a:t>historical average demand + prev-15min / prev-1h / yesterday-same-slot, built leave-one-out on training rows.</a:t>
            </a:r>
          </a:p>
          <a:p>
            <a:pPr algn="l">
              <a:spcBef>
                <a:spcPts val="0"/>
              </a:spcBef>
              <a:spcAft>
                <a:spcPts val="100"/>
              </a:spcAft>
            </a:pPr>
            <a:r>
              <a:rPr sz="1250" b="1" i="0">
                <a:solidFill>
                  <a:srgbClr val="B91C1C"/>
                </a:solidFill>
                <a:latin typeface="Calibri"/>
              </a:rPr>
              <a:t>▸  </a:t>
            </a:r>
            <a:r>
              <a:rPr sz="1250" b="1" i="0">
                <a:solidFill>
                  <a:srgbClr val="111827"/>
                </a:solidFill>
                <a:latin typeface="Calibri"/>
              </a:rPr>
              <a:t>Weather joins</a:t>
            </a:r>
          </a:p>
          <a:p>
            <a:pPr algn="l">
              <a:lnSpc>
                <a:spcPct val="102000"/>
              </a:lnSpc>
              <a:spcBef>
                <a:spcPts val="0"/>
              </a:spcBef>
              <a:spcAft>
                <a:spcPts val="600"/>
              </a:spcAft>
            </a:pPr>
            <a:r>
              <a:rPr sz="1100" b="0" i="0">
                <a:solidFill>
                  <a:srgbClr val="6B7280"/>
                </a:solidFill>
                <a:latin typeface="Calibri"/>
              </a:rPr>
              <a:t>15-minute temperature, precipitation, wind, humidity, code.</a:t>
            </a:r>
          </a:p>
          <a:p>
            <a:pPr algn="l">
              <a:spcBef>
                <a:spcPts val="0"/>
              </a:spcBef>
              <a:spcAft>
                <a:spcPts val="100"/>
              </a:spcAft>
            </a:pPr>
            <a:r>
              <a:rPr sz="1250" b="1" i="0">
                <a:solidFill>
                  <a:srgbClr val="B91C1C"/>
                </a:solidFill>
                <a:latin typeface="Calibri"/>
              </a:rPr>
              <a:t>▸  </a:t>
            </a:r>
            <a:r>
              <a:rPr sz="1250" b="1" i="0">
                <a:solidFill>
                  <a:srgbClr val="111827"/>
                </a:solidFill>
                <a:latin typeface="Calibri"/>
              </a:rPr>
              <a:t>Advanced station encoding</a:t>
            </a:r>
          </a:p>
          <a:p>
            <a:pPr algn="l">
              <a:lnSpc>
                <a:spcPct val="102000"/>
              </a:lnSpc>
              <a:spcBef>
                <a:spcPts val="0"/>
              </a:spcBef>
              <a:spcAft>
                <a:spcPts val="600"/>
              </a:spcAft>
            </a:pPr>
            <a:r>
              <a:rPr sz="1100" b="0" i="0">
                <a:solidFill>
                  <a:srgbClr val="6B7280"/>
                </a:solidFill>
                <a:latin typeface="Calibri"/>
              </a:rPr>
              <a:t>frequency + smoothed target encoding of the high-cardinality station name.</a:t>
            </a:r>
          </a:p>
          <a:p>
            <a:pPr algn="l">
              <a:spcBef>
                <a:spcPts val="0"/>
              </a:spcBef>
              <a:spcAft>
                <a:spcPts val="100"/>
              </a:spcAft>
            </a:pPr>
            <a:r>
              <a:rPr sz="1250" b="1" i="0">
                <a:solidFill>
                  <a:srgbClr val="B91C1C"/>
                </a:solidFill>
                <a:latin typeface="Calibri"/>
              </a:rPr>
              <a:t>▸  </a:t>
            </a:r>
            <a:r>
              <a:rPr sz="1250" b="1" i="0">
                <a:solidFill>
                  <a:srgbClr val="111827"/>
                </a:solidFill>
                <a:latin typeface="Calibri"/>
              </a:rPr>
              <a:t>Demand tiers</a:t>
            </a:r>
          </a:p>
          <a:p>
            <a:pPr algn="l">
              <a:lnSpc>
                <a:spcPct val="102000"/>
              </a:lnSpc>
              <a:spcBef>
                <a:spcPts val="0"/>
              </a:spcBef>
              <a:spcAft>
                <a:spcPts val="600"/>
              </a:spcAft>
            </a:pPr>
            <a:r>
              <a:rPr sz="1100" b="0" i="0">
                <a:solidFill>
                  <a:srgbClr val="6B7280"/>
                </a:solidFill>
                <a:latin typeface="Calibri"/>
              </a:rPr>
              <a:t>low / medium / high — used later for fairness parity.</a:t>
            </a:r>
          </a:p>
        </p:txBody>
      </p:sp>
      <p:sp>
        <p:nvSpPr>
          <p:cNvPr id="6" name="Rounded Rectangle 5"/>
          <p:cNvSpPr/>
          <p:nvPr/>
        </p:nvSpPr>
        <p:spPr>
          <a:xfrm>
            <a:off x="6355080" y="1600200"/>
            <a:ext cx="5349240" cy="2331720"/>
          </a:xfrm>
          <a:prstGeom prst="roundRect">
            <a:avLst>
              <a:gd name="adj" fmla="val 6000"/>
            </a:avLst>
          </a:prstGeom>
          <a:solidFill>
            <a:srgbClr val="F9FAFB"/>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783080"/>
            <a:ext cx="4892040" cy="2011680"/>
          </a:xfrm>
          <a:prstGeom prst="rect">
            <a:avLst/>
          </a:prstGeom>
          <a:noFill/>
        </p:spPr>
        <p:txBody>
          <a:bodyPr wrap="square" anchor="t" lIns="0" rIns="0" tIns="0" bIns="0">
            <a:spAutoFit/>
          </a:bodyPr>
          <a:lstStyle/>
          <a:p>
            <a:pPr algn="l">
              <a:spcBef>
                <a:spcPts val="0"/>
              </a:spcBef>
              <a:spcAft>
                <a:spcPts val="600"/>
              </a:spcAft>
            </a:pPr>
            <a:r>
              <a:rPr sz="1400" b="1" i="0">
                <a:solidFill>
                  <a:srgbClr val="0F766E"/>
                </a:solidFill>
                <a:latin typeface="Calibri"/>
              </a:rPr>
              <a:t>Leakage-safe by construction</a:t>
            </a:r>
          </a:p>
          <a:p>
            <a:pPr algn="l">
              <a:lnSpc>
                <a:spcPct val="102000"/>
              </a:lnSpc>
              <a:spcBef>
                <a:spcPts val="0"/>
              </a:spcBef>
              <a:spcAft>
                <a:spcPts val="500"/>
              </a:spcAft>
            </a:pPr>
            <a:r>
              <a:rPr sz="1150" b="1" i="0">
                <a:solidFill>
                  <a:srgbClr val="B91C1C"/>
                </a:solidFill>
                <a:latin typeface="Calibri"/>
              </a:rPr>
              <a:t>✓  </a:t>
            </a:r>
            <a:r>
              <a:rPr sz="1150" b="0" i="0">
                <a:solidFill>
                  <a:srgbClr val="1F2937"/>
                </a:solidFill>
                <a:latin typeface="Calibri"/>
              </a:rPr>
              <a:t>Strict temporal split — train 2024, validate May-2025, test Oct-2025.</a:t>
            </a:r>
          </a:p>
          <a:p>
            <a:pPr algn="l">
              <a:lnSpc>
                <a:spcPct val="102000"/>
              </a:lnSpc>
              <a:spcBef>
                <a:spcPts val="0"/>
              </a:spcBef>
              <a:spcAft>
                <a:spcPts val="500"/>
              </a:spcAft>
            </a:pPr>
            <a:r>
              <a:rPr sz="1150" b="1" i="0">
                <a:solidFill>
                  <a:srgbClr val="B91C1C"/>
                </a:solidFill>
                <a:latin typeface="Calibri"/>
              </a:rPr>
              <a:t>✓  </a:t>
            </a:r>
            <a:r>
              <a:rPr sz="1150" b="0" i="0">
                <a:solidFill>
                  <a:srgbClr val="1F2937"/>
                </a:solidFill>
                <a:latin typeface="Calibri"/>
              </a:rPr>
              <a:t>Encoders &amp; baselines fit on TRAIN only, then applied forward.</a:t>
            </a:r>
          </a:p>
          <a:p>
            <a:pPr algn="l">
              <a:lnSpc>
                <a:spcPct val="102000"/>
              </a:lnSpc>
              <a:spcBef>
                <a:spcPts val="0"/>
              </a:spcBef>
              <a:spcAft>
                <a:spcPts val="500"/>
              </a:spcAft>
            </a:pPr>
            <a:r>
              <a:rPr sz="1150" b="1" i="0">
                <a:solidFill>
                  <a:srgbClr val="B91C1C"/>
                </a:solidFill>
                <a:latin typeface="Calibri"/>
              </a:rPr>
              <a:t>✓  </a:t>
            </a:r>
            <a:r>
              <a:rPr sz="1150" b="0" i="0">
                <a:solidFill>
                  <a:srgbClr val="1F2937"/>
                </a:solidFill>
                <a:latin typeface="Calibri"/>
              </a:rPr>
              <a:t>Leave-one-out baselines so a row never sees its own label.</a:t>
            </a:r>
          </a:p>
        </p:txBody>
      </p:sp>
      <p:sp>
        <p:nvSpPr>
          <p:cNvPr id="8" name="Rounded Rectangle 7"/>
          <p:cNvSpPr/>
          <p:nvPr/>
        </p:nvSpPr>
        <p:spPr>
          <a:xfrm>
            <a:off x="6355080" y="4343400"/>
            <a:ext cx="1691640" cy="822960"/>
          </a:xfrm>
          <a:prstGeom prst="roundRect">
            <a:avLst>
              <a:gd name="adj" fmla="val 10000"/>
            </a:avLst>
          </a:prstGeom>
          <a:solidFill>
            <a:srgbClr val="ECFDF5"/>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300" b="1" i="0">
                <a:solidFill>
                  <a:srgbClr val="111827"/>
                </a:solidFill>
                <a:latin typeface="Calibri"/>
              </a:rPr>
              <a:t>TRAIN</a:t>
            </a:r>
          </a:p>
          <a:p>
            <a:pPr algn="ctr">
              <a:spcBef>
                <a:spcPts val="100"/>
              </a:spcBef>
              <a:spcAft>
                <a:spcPts val="0"/>
              </a:spcAft>
            </a:pPr>
            <a:r>
              <a:rPr sz="950" b="0" i="0">
                <a:solidFill>
                  <a:srgbClr val="1F2937"/>
                </a:solidFill>
                <a:latin typeface="Calibri"/>
              </a:rPr>
              <a:t>2024 (full year)</a:t>
            </a:r>
          </a:p>
        </p:txBody>
      </p:sp>
      <p:sp>
        <p:nvSpPr>
          <p:cNvPr id="9" name="Rounded Rectangle 8"/>
          <p:cNvSpPr/>
          <p:nvPr/>
        </p:nvSpPr>
        <p:spPr>
          <a:xfrm>
            <a:off x="8183879" y="4343400"/>
            <a:ext cx="1691640" cy="822960"/>
          </a:xfrm>
          <a:prstGeom prst="roundRect">
            <a:avLst>
              <a:gd name="adj" fmla="val 10000"/>
            </a:avLst>
          </a:prstGeom>
          <a:solidFill>
            <a:srgbClr val="F9FAFB"/>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300" b="1" i="0">
                <a:solidFill>
                  <a:srgbClr val="111827"/>
                </a:solidFill>
                <a:latin typeface="Calibri"/>
              </a:rPr>
              <a:t>VALIDATION</a:t>
            </a:r>
          </a:p>
          <a:p>
            <a:pPr algn="ctr">
              <a:spcBef>
                <a:spcPts val="100"/>
              </a:spcBef>
              <a:spcAft>
                <a:spcPts val="0"/>
              </a:spcAft>
            </a:pPr>
            <a:r>
              <a:rPr sz="950" b="0" i="0">
                <a:solidFill>
                  <a:srgbClr val="1F2937"/>
                </a:solidFill>
                <a:latin typeface="Calibri"/>
              </a:rPr>
              <a:t>May 2025</a:t>
            </a:r>
          </a:p>
        </p:txBody>
      </p:sp>
      <p:sp>
        <p:nvSpPr>
          <p:cNvPr id="10" name="Rounded Rectangle 9"/>
          <p:cNvSpPr/>
          <p:nvPr/>
        </p:nvSpPr>
        <p:spPr>
          <a:xfrm>
            <a:off x="10012680" y="4343400"/>
            <a:ext cx="1691640" cy="822960"/>
          </a:xfrm>
          <a:prstGeom prst="roundRect">
            <a:avLst>
              <a:gd name="adj" fmla="val 10000"/>
            </a:avLst>
          </a:prstGeom>
          <a:solidFill>
            <a:srgbClr val="F9FAFB"/>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300" b="1" i="0">
                <a:solidFill>
                  <a:srgbClr val="111827"/>
                </a:solidFill>
                <a:latin typeface="Calibri"/>
              </a:rPr>
              <a:t>TEST</a:t>
            </a:r>
          </a:p>
          <a:p>
            <a:pPr algn="ctr">
              <a:spcBef>
                <a:spcPts val="100"/>
              </a:spcBef>
              <a:spcAft>
                <a:spcPts val="0"/>
              </a:spcAft>
            </a:pPr>
            <a:r>
              <a:rPr sz="950" b="0" i="0">
                <a:solidFill>
                  <a:srgbClr val="1F2937"/>
                </a:solidFill>
                <a:latin typeface="Calibri"/>
              </a:rPr>
              <a:t>Oct 2025</a:t>
            </a:r>
          </a:p>
        </p:txBody>
      </p:sp>
      <p:cxnSp>
        <p:nvCxnSpPr>
          <p:cNvPr id="11" name="Connector 10"/>
          <p:cNvCxnSpPr/>
          <p:nvPr/>
        </p:nvCxnSpPr>
        <p:spPr>
          <a:xfrm>
            <a:off x="8046720" y="4754880"/>
            <a:ext cx="137159"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875520" y="4754880"/>
            <a:ext cx="137160"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55080" y="5257800"/>
            <a:ext cx="5349240" cy="457200"/>
          </a:xfrm>
          <a:prstGeom prst="rect">
            <a:avLst/>
          </a:prstGeom>
          <a:noFill/>
        </p:spPr>
        <p:txBody>
          <a:bodyPr wrap="square" anchor="t" lIns="0" rIns="0" tIns="0" bIns="0">
            <a:spAutoFit/>
          </a:bodyPr>
          <a:lstStyle/>
          <a:p>
            <a:pPr algn="l">
              <a:spcBef>
                <a:spcPts val="0"/>
              </a:spcBef>
              <a:spcAft>
                <a:spcPts val="400"/>
              </a:spcAft>
            </a:pPr>
            <a:r>
              <a:rPr sz="1050" b="0" i="1">
                <a:solidFill>
                  <a:srgbClr val="6B7280"/>
                </a:solidFill>
                <a:latin typeface="Calibri"/>
              </a:rPr>
              <a:t>Time →   encoders &amp; baselines learned on the left, only applied to the right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B45309"/>
                </a:solidFill>
                <a:latin typeface="Calibri"/>
              </a:rPr>
              <a:t>AWS &amp; PRODUCTIONISED STRUCTURE</a:t>
            </a:r>
          </a:p>
          <a:p>
            <a:pPr algn="l">
              <a:spcBef>
                <a:spcPts val="0"/>
              </a:spcBef>
              <a:spcAft>
                <a:spcPts val="0"/>
              </a:spcAft>
            </a:pPr>
            <a:r>
              <a:rPr sz="2700" b="1" i="0">
                <a:solidFill>
                  <a:srgbClr val="111827"/>
                </a:solidFill>
                <a:latin typeface="Calibri"/>
              </a:rPr>
              <a:t>Architecture — GitHub to AWS, all infrastructure-as-code</a:t>
            </a:r>
          </a:p>
        </p:txBody>
      </p:sp>
      <p:sp>
        <p:nvSpPr>
          <p:cNvPr id="4" name="Rounded Rectangle 3"/>
          <p:cNvSpPr/>
          <p:nvPr/>
        </p:nvSpPr>
        <p:spPr>
          <a:xfrm>
            <a:off x="9402775" y="384048"/>
            <a:ext cx="2286000" cy="420624"/>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Ruihe “Louis” Zhang</a:t>
            </a:r>
          </a:p>
        </p:txBody>
      </p:sp>
      <p:sp>
        <p:nvSpPr>
          <p:cNvPr id="5" name="Rounded Rectangle 4"/>
          <p:cNvSpPr/>
          <p:nvPr/>
        </p:nvSpPr>
        <p:spPr>
          <a:xfrm>
            <a:off x="502920" y="1554480"/>
            <a:ext cx="2011680" cy="777240"/>
          </a:xfrm>
          <a:prstGeom prst="roundRect">
            <a:avLst>
              <a:gd name="adj" fmla="val 10000"/>
            </a:avLst>
          </a:prstGeom>
          <a:solidFill>
            <a:srgbClr val="F9FAF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200" b="1" i="0">
                <a:solidFill>
                  <a:srgbClr val="111827"/>
                </a:solidFill>
                <a:latin typeface="Calibri"/>
              </a:rPr>
              <a:t>GitHub</a:t>
            </a:r>
          </a:p>
          <a:p>
            <a:pPr algn="ctr">
              <a:spcBef>
                <a:spcPts val="100"/>
              </a:spcBef>
              <a:spcAft>
                <a:spcPts val="0"/>
              </a:spcAft>
            </a:pPr>
            <a:r>
              <a:rPr sz="950" b="0" i="0">
                <a:solidFill>
                  <a:srgbClr val="1F2937"/>
                </a:solidFill>
                <a:latin typeface="Calibri"/>
              </a:rPr>
              <a:t>main + PRs</a:t>
            </a:r>
          </a:p>
        </p:txBody>
      </p:sp>
      <p:sp>
        <p:nvSpPr>
          <p:cNvPr id="6" name="Rounded Rectangle 5"/>
          <p:cNvSpPr/>
          <p:nvPr/>
        </p:nvSpPr>
        <p:spPr>
          <a:xfrm>
            <a:off x="2880360" y="1554480"/>
            <a:ext cx="2468880" cy="777240"/>
          </a:xfrm>
          <a:prstGeom prst="roundRect">
            <a:avLst>
              <a:gd name="adj" fmla="val 10000"/>
            </a:avLst>
          </a:prstGeom>
          <a:solidFill>
            <a:srgbClr val="F9FAF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200" b="1" i="0">
                <a:solidFill>
                  <a:srgbClr val="111827"/>
                </a:solidFill>
                <a:latin typeface="Calibri"/>
              </a:rPr>
              <a:t>GitHub Actions CI</a:t>
            </a:r>
          </a:p>
          <a:p>
            <a:pPr algn="ctr">
              <a:spcBef>
                <a:spcPts val="100"/>
              </a:spcBef>
              <a:spcAft>
                <a:spcPts val="0"/>
              </a:spcAft>
            </a:pPr>
            <a:r>
              <a:rPr sz="950" b="0" i="0">
                <a:solidFill>
                  <a:srgbClr val="1F2937"/>
                </a:solidFill>
                <a:latin typeface="Calibri"/>
              </a:rPr>
              <a:t>pytest + build images</a:t>
            </a:r>
          </a:p>
        </p:txBody>
      </p:sp>
      <p:sp>
        <p:nvSpPr>
          <p:cNvPr id="7" name="Rounded Rectangle 6"/>
          <p:cNvSpPr/>
          <p:nvPr/>
        </p:nvSpPr>
        <p:spPr>
          <a:xfrm>
            <a:off x="5715000" y="1554480"/>
            <a:ext cx="2377440" cy="777240"/>
          </a:xfrm>
          <a:prstGeom prst="roundRect">
            <a:avLst>
              <a:gd name="adj" fmla="val 10000"/>
            </a:avLst>
          </a:prstGeom>
          <a:solidFill>
            <a:srgbClr val="F9FAF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200" b="1" i="0">
                <a:solidFill>
                  <a:srgbClr val="111827"/>
                </a:solidFill>
                <a:latin typeface="Calibri"/>
              </a:rPr>
              <a:t>Docker images</a:t>
            </a:r>
          </a:p>
          <a:p>
            <a:pPr algn="ctr">
              <a:spcBef>
                <a:spcPts val="100"/>
              </a:spcBef>
              <a:spcAft>
                <a:spcPts val="0"/>
              </a:spcAft>
            </a:pPr>
            <a:r>
              <a:rPr sz="950" b="0" i="0">
                <a:solidFill>
                  <a:srgbClr val="1F2937"/>
                </a:solidFill>
                <a:latin typeface="Calibri"/>
              </a:rPr>
              <a:t>train + Streamlit serving</a:t>
            </a:r>
          </a:p>
        </p:txBody>
      </p:sp>
      <p:cxnSp>
        <p:nvCxnSpPr>
          <p:cNvPr id="8" name="Connector 7"/>
          <p:cNvCxnSpPr/>
          <p:nvPr/>
        </p:nvCxnSpPr>
        <p:spPr>
          <a:xfrm>
            <a:off x="2514600" y="1938528"/>
            <a:ext cx="36576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349240" y="1938528"/>
            <a:ext cx="36576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2920" y="2697480"/>
            <a:ext cx="7589520" cy="2331720"/>
          </a:xfrm>
          <a:prstGeom prst="roundRect">
            <a:avLst>
              <a:gd name="adj" fmla="val 4000"/>
            </a:avLst>
          </a:prstGeom>
          <a:solidFill>
            <a:srgbClr val="FFFBEB"/>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788920"/>
            <a:ext cx="7223760" cy="365760"/>
          </a:xfrm>
          <a:prstGeom prst="rect">
            <a:avLst/>
          </a:prstGeom>
          <a:noFill/>
        </p:spPr>
        <p:txBody>
          <a:bodyPr wrap="square" anchor="t" lIns="0" rIns="0" tIns="0" bIns="0">
            <a:spAutoFit/>
          </a:bodyPr>
          <a:lstStyle/>
          <a:p>
            <a:pPr algn="l">
              <a:spcBef>
                <a:spcPts val="0"/>
              </a:spcBef>
              <a:spcAft>
                <a:spcPts val="400"/>
              </a:spcAft>
            </a:pPr>
            <a:r>
              <a:rPr sz="1250" b="1" i="0">
                <a:solidFill>
                  <a:srgbClr val="B45309"/>
                </a:solidFill>
                <a:latin typeface="Calibri"/>
              </a:rPr>
              <a:t>AWS  us-east-2  ·  provisioned by AWS CDK (infra/)</a:t>
            </a:r>
          </a:p>
        </p:txBody>
      </p:sp>
      <p:sp>
        <p:nvSpPr>
          <p:cNvPr id="12" name="Rounded Rectangle 11"/>
          <p:cNvSpPr/>
          <p:nvPr/>
        </p:nvSpPr>
        <p:spPr>
          <a:xfrm>
            <a:off x="658368" y="3246120"/>
            <a:ext cx="1755648" cy="777240"/>
          </a:xfrm>
          <a:prstGeom prst="roundRect">
            <a:avLst>
              <a:gd name="adj" fmla="val 10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150" b="1" i="0">
                <a:solidFill>
                  <a:srgbClr val="111827"/>
                </a:solidFill>
                <a:latin typeface="Calibri"/>
              </a:rPr>
              <a:t>BixiNetwork</a:t>
            </a:r>
          </a:p>
          <a:p>
            <a:pPr algn="ctr">
              <a:spcBef>
                <a:spcPts val="100"/>
              </a:spcBef>
              <a:spcAft>
                <a:spcPts val="0"/>
              </a:spcAft>
            </a:pPr>
            <a:r>
              <a:rPr sz="900" b="0" i="0">
                <a:solidFill>
                  <a:srgbClr val="1F2937"/>
                </a:solidFill>
                <a:latin typeface="Calibri"/>
              </a:rPr>
              <a:t>VPC, public subnets</a:t>
            </a:r>
          </a:p>
        </p:txBody>
      </p:sp>
      <p:sp>
        <p:nvSpPr>
          <p:cNvPr id="13" name="Rounded Rectangle 12"/>
          <p:cNvSpPr/>
          <p:nvPr/>
        </p:nvSpPr>
        <p:spPr>
          <a:xfrm>
            <a:off x="2487168" y="3246120"/>
            <a:ext cx="1755648" cy="777240"/>
          </a:xfrm>
          <a:prstGeom prst="roundRect">
            <a:avLst>
              <a:gd name="adj" fmla="val 10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150" b="1" i="0">
                <a:solidFill>
                  <a:srgbClr val="111827"/>
                </a:solidFill>
                <a:latin typeface="Calibri"/>
              </a:rPr>
              <a:t>BixiStorage</a:t>
            </a:r>
          </a:p>
          <a:p>
            <a:pPr algn="ctr">
              <a:spcBef>
                <a:spcPts val="100"/>
              </a:spcBef>
              <a:spcAft>
                <a:spcPts val="0"/>
              </a:spcAft>
            </a:pPr>
            <a:r>
              <a:rPr sz="900" b="0" i="0">
                <a:solidFill>
                  <a:srgbClr val="1F2937"/>
                </a:solidFill>
                <a:latin typeface="Calibri"/>
              </a:rPr>
              <a:t>S3 bucket + SSM</a:t>
            </a:r>
          </a:p>
        </p:txBody>
      </p:sp>
      <p:sp>
        <p:nvSpPr>
          <p:cNvPr id="14" name="Rounded Rectangle 13"/>
          <p:cNvSpPr/>
          <p:nvPr/>
        </p:nvSpPr>
        <p:spPr>
          <a:xfrm>
            <a:off x="4315968" y="3246120"/>
            <a:ext cx="1755648" cy="777240"/>
          </a:xfrm>
          <a:prstGeom prst="roundRect">
            <a:avLst>
              <a:gd name="adj" fmla="val 10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150" b="1" i="0">
                <a:solidFill>
                  <a:srgbClr val="111827"/>
                </a:solidFill>
                <a:latin typeface="Calibri"/>
              </a:rPr>
              <a:t>BixiMlflow</a:t>
            </a:r>
          </a:p>
          <a:p>
            <a:pPr algn="ctr">
              <a:spcBef>
                <a:spcPts val="100"/>
              </a:spcBef>
              <a:spcAft>
                <a:spcPts val="0"/>
              </a:spcAft>
            </a:pPr>
            <a:r>
              <a:rPr sz="900" b="0" i="0">
                <a:solidFill>
                  <a:srgbClr val="1F2937"/>
                </a:solidFill>
                <a:latin typeface="Calibri"/>
              </a:rPr>
              <a:t>MLflow on EC2 + S3</a:t>
            </a:r>
          </a:p>
        </p:txBody>
      </p:sp>
      <p:sp>
        <p:nvSpPr>
          <p:cNvPr id="15" name="Rounded Rectangle 14"/>
          <p:cNvSpPr/>
          <p:nvPr/>
        </p:nvSpPr>
        <p:spPr>
          <a:xfrm>
            <a:off x="6144768" y="3246120"/>
            <a:ext cx="1755648" cy="777240"/>
          </a:xfrm>
          <a:prstGeom prst="roundRect">
            <a:avLst>
              <a:gd name="adj" fmla="val 10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150" b="1" i="0">
                <a:solidFill>
                  <a:srgbClr val="111827"/>
                </a:solidFill>
                <a:latin typeface="Calibri"/>
              </a:rPr>
              <a:t>BixiBatch</a:t>
            </a:r>
          </a:p>
          <a:p>
            <a:pPr algn="ctr">
              <a:spcBef>
                <a:spcPts val="100"/>
              </a:spcBef>
              <a:spcAft>
                <a:spcPts val="0"/>
              </a:spcAft>
            </a:pPr>
            <a:r>
              <a:rPr sz="900" b="0" i="0">
                <a:solidFill>
                  <a:srgbClr val="1F2937"/>
                </a:solidFill>
                <a:latin typeface="Calibri"/>
              </a:rPr>
              <a:t>ECR + AWS Batch</a:t>
            </a:r>
          </a:p>
        </p:txBody>
      </p:sp>
      <p:sp>
        <p:nvSpPr>
          <p:cNvPr id="16" name="TextBox 15"/>
          <p:cNvSpPr txBox="1"/>
          <p:nvPr/>
        </p:nvSpPr>
        <p:spPr>
          <a:xfrm>
            <a:off x="658368" y="4160520"/>
            <a:ext cx="7223760" cy="777240"/>
          </a:xfrm>
          <a:prstGeom prst="rect">
            <a:avLst/>
          </a:prstGeom>
          <a:noFill/>
        </p:spPr>
        <p:txBody>
          <a:bodyPr wrap="square" anchor="t" lIns="0" rIns="0" tIns="0" bIns="0">
            <a:spAutoFit/>
          </a:bodyPr>
          <a:lstStyle/>
          <a:p>
            <a:pPr algn="l">
              <a:spcBef>
                <a:spcPts val="0"/>
              </a:spcBef>
              <a:spcAft>
                <a:spcPts val="200"/>
              </a:spcAft>
            </a:pPr>
            <a:r>
              <a:rPr sz="1150" b="0" i="0">
                <a:solidFill>
                  <a:srgbClr val="1F2937"/>
                </a:solidFill>
                <a:latin typeface="Calibri"/>
              </a:rPr>
              <a:t>AWS Batch runs  </a:t>
            </a:r>
            <a:r>
              <a:rPr sz="1150" b="1" i="0">
                <a:solidFill>
                  <a:srgbClr val="111827"/>
                </a:solidFill>
                <a:latin typeface="Consolas"/>
              </a:rPr>
              <a:t>python -m bixi.pipeline</a:t>
            </a:r>
            <a:r>
              <a:rPr sz="1150" b="0" i="0">
                <a:solidFill>
                  <a:srgbClr val="1F2937"/>
                </a:solidFill>
                <a:latin typeface="Calibri"/>
              </a:rPr>
              <a:t>  over the full dataset</a:t>
            </a:r>
          </a:p>
          <a:p>
            <a:pPr algn="l">
              <a:spcBef>
                <a:spcPts val="0"/>
              </a:spcBef>
              <a:spcAft>
                <a:spcPts val="0"/>
              </a:spcAft>
            </a:pPr>
            <a:r>
              <a:rPr sz="1100" b="0" i="0">
                <a:solidFill>
                  <a:srgbClr val="6B7280"/>
                </a:solidFill>
                <a:latin typeface="Consolas"/>
              </a:rPr>
              <a:t>source data  s3://insy684   →   checkpoints, models, reports → S3 + MLflow</a:t>
            </a:r>
          </a:p>
        </p:txBody>
      </p:sp>
      <p:cxnSp>
        <p:nvCxnSpPr>
          <p:cNvPr id="17" name="Connector 16"/>
          <p:cNvCxnSpPr/>
          <p:nvPr/>
        </p:nvCxnSpPr>
        <p:spPr>
          <a:xfrm>
            <a:off x="6903720" y="2331720"/>
            <a:ext cx="0" cy="91440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366760" y="1554480"/>
            <a:ext cx="3337560" cy="3474720"/>
          </a:xfrm>
          <a:prstGeom prst="roundRect">
            <a:avLst>
              <a:gd name="adj" fmla="val 5000"/>
            </a:avLst>
          </a:prstGeom>
          <a:solidFill>
            <a:srgbClr val="F9FAFB"/>
          </a:solidFill>
          <a:ln w="15875">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22208" y="1645920"/>
            <a:ext cx="3017520" cy="365760"/>
          </a:xfrm>
          <a:prstGeom prst="rect">
            <a:avLst/>
          </a:prstGeom>
          <a:noFill/>
        </p:spPr>
        <p:txBody>
          <a:bodyPr wrap="square" anchor="t" lIns="0" rIns="0" tIns="0" bIns="0">
            <a:spAutoFit/>
          </a:bodyPr>
          <a:lstStyle/>
          <a:p>
            <a:pPr algn="l">
              <a:spcBef>
                <a:spcPts val="0"/>
              </a:spcBef>
              <a:spcAft>
                <a:spcPts val="400"/>
              </a:spcAft>
            </a:pPr>
            <a:r>
              <a:rPr sz="1250" b="1" i="0">
                <a:solidFill>
                  <a:srgbClr val="6D28D9"/>
                </a:solidFill>
                <a:latin typeface="Calibri"/>
              </a:rPr>
              <a:t>Serving</a:t>
            </a:r>
          </a:p>
        </p:txBody>
      </p:sp>
      <p:sp>
        <p:nvSpPr>
          <p:cNvPr id="20" name="Rounded Rectangle 19"/>
          <p:cNvSpPr/>
          <p:nvPr/>
        </p:nvSpPr>
        <p:spPr>
          <a:xfrm>
            <a:off x="8522208" y="2103120"/>
            <a:ext cx="3017520" cy="914400"/>
          </a:xfrm>
          <a:prstGeom prst="roundRect">
            <a:avLst>
              <a:gd name="adj" fmla="val 10000"/>
            </a:avLst>
          </a:prstGeom>
          <a:solidFill>
            <a:srgbClr val="FFFFFF"/>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150" b="1" i="0">
                <a:solidFill>
                  <a:srgbClr val="111827"/>
                </a:solidFill>
                <a:latin typeface="Calibri"/>
              </a:rPr>
              <a:t>Streamlit Community Cloud</a:t>
            </a:r>
          </a:p>
          <a:p>
            <a:pPr algn="ctr">
              <a:spcBef>
                <a:spcPts val="100"/>
              </a:spcBef>
              <a:spcAft>
                <a:spcPts val="0"/>
              </a:spcAft>
            </a:pPr>
            <a:r>
              <a:rPr sz="900" b="0" i="0">
                <a:solidFill>
                  <a:srgbClr val="1F2937"/>
                </a:solidFill>
                <a:latin typeface="Calibri"/>
              </a:rPr>
              <a:t>app.py · committed artifacts, no AWS at runtime</a:t>
            </a:r>
          </a:p>
        </p:txBody>
      </p:sp>
      <p:sp>
        <p:nvSpPr>
          <p:cNvPr id="21" name="Rounded Rectangle 20"/>
          <p:cNvSpPr/>
          <p:nvPr/>
        </p:nvSpPr>
        <p:spPr>
          <a:xfrm>
            <a:off x="8522208" y="3154680"/>
            <a:ext cx="3017520" cy="914400"/>
          </a:xfrm>
          <a:prstGeom prst="roundRect">
            <a:avLst>
              <a:gd name="adj" fmla="val 10000"/>
            </a:avLst>
          </a:prstGeom>
          <a:solidFill>
            <a:srgbClr val="FFFFFF"/>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150" b="1" i="0">
                <a:solidFill>
                  <a:srgbClr val="111827"/>
                </a:solidFill>
                <a:latin typeface="Calibri"/>
              </a:rPr>
              <a:t>EC2 Streamlit container</a:t>
            </a:r>
          </a:p>
          <a:p>
            <a:pPr algn="ctr">
              <a:spcBef>
                <a:spcPts val="100"/>
              </a:spcBef>
              <a:spcAft>
                <a:spcPts val="0"/>
              </a:spcAft>
            </a:pPr>
            <a:r>
              <a:rPr sz="900" b="0" i="0">
                <a:solidFill>
                  <a:srgbClr val="1F2937"/>
                </a:solidFill>
                <a:latin typeface="Calibri"/>
              </a:rPr>
              <a:t>app_ec2.py · same artifacts from S3</a:t>
            </a:r>
          </a:p>
        </p:txBody>
      </p:sp>
      <p:sp>
        <p:nvSpPr>
          <p:cNvPr id="22" name="TextBox 21"/>
          <p:cNvSpPr txBox="1"/>
          <p:nvPr/>
        </p:nvSpPr>
        <p:spPr>
          <a:xfrm>
            <a:off x="8522208" y="4206240"/>
            <a:ext cx="3017520" cy="731520"/>
          </a:xfrm>
          <a:prstGeom prst="rect">
            <a:avLst/>
          </a:prstGeom>
          <a:noFill/>
        </p:spPr>
        <p:txBody>
          <a:bodyPr wrap="square" anchor="t" lIns="0" rIns="0" tIns="0" bIns="0">
            <a:spAutoFit/>
          </a:bodyPr>
          <a:lstStyle/>
          <a:p>
            <a:pPr algn="l">
              <a:spcBef>
                <a:spcPts val="0"/>
              </a:spcBef>
              <a:spcAft>
                <a:spcPts val="200"/>
              </a:spcAft>
            </a:pPr>
            <a:r>
              <a:rPr sz="950" b="0" i="0">
                <a:solidFill>
                  <a:srgbClr val="1F2937"/>
                </a:solidFill>
                <a:latin typeface="Consolas"/>
              </a:rPr>
              <a:t>bixidemandlocal.streamlit.app</a:t>
            </a:r>
          </a:p>
          <a:p>
            <a:pPr algn="l">
              <a:spcBef>
                <a:spcPts val="0"/>
              </a:spcBef>
              <a:spcAft>
                <a:spcPts val="0"/>
              </a:spcAft>
            </a:pPr>
            <a:r>
              <a:rPr sz="950" b="0" i="0">
                <a:solidFill>
                  <a:srgbClr val="1F2937"/>
                </a:solidFill>
                <a:latin typeface="Consolas"/>
              </a:rPr>
              <a:t>3.16.250.166:8501</a:t>
            </a:r>
          </a:p>
        </p:txBody>
      </p:sp>
      <p:cxnSp>
        <p:nvCxnSpPr>
          <p:cNvPr id="23" name="Connector 22"/>
          <p:cNvCxnSpPr/>
          <p:nvPr/>
        </p:nvCxnSpPr>
        <p:spPr>
          <a:xfrm flipV="1">
            <a:off x="8092440" y="2560320"/>
            <a:ext cx="429768" cy="73152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5257800"/>
            <a:ext cx="11247120" cy="822960"/>
          </a:xfrm>
          <a:prstGeom prst="rect">
            <a:avLst/>
          </a:prstGeom>
          <a:noFill/>
        </p:spPr>
        <p:txBody>
          <a:bodyPr wrap="square" anchor="t" lIns="0" rIns="0" tIns="0" bIns="0">
            <a:spAutoFit/>
          </a:bodyPr>
          <a:lstStyle/>
          <a:p>
            <a:pPr algn="l">
              <a:spcBef>
                <a:spcPts val="0"/>
              </a:spcBef>
              <a:spcAft>
                <a:spcPts val="400"/>
              </a:spcAft>
            </a:pPr>
            <a:r>
              <a:rPr sz="1200" b="0" i="1">
                <a:solidFill>
                  <a:srgbClr val="1F2937"/>
                </a:solidFill>
                <a:latin typeface="Calibri"/>
              </a:rPr>
              <a:t>Identical code runs locally on a station subsample and on AWS Batch over the full dataset. No credentials in git — default boto3 chain (SSO locally, IAM role in cloud).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B45309"/>
                </a:solidFill>
                <a:latin typeface="Calibri"/>
              </a:rPr>
              <a:t>PRODUCTIONISATION</a:t>
            </a:r>
          </a:p>
          <a:p>
            <a:pPr algn="l">
              <a:spcBef>
                <a:spcPts val="0"/>
              </a:spcBef>
              <a:spcAft>
                <a:spcPts val="0"/>
              </a:spcAft>
            </a:pPr>
            <a:r>
              <a:rPr sz="2700" b="1" i="0">
                <a:solidFill>
                  <a:srgbClr val="111827"/>
                </a:solidFill>
                <a:latin typeface="Calibri"/>
              </a:rPr>
              <a:t>A resumable, staged pipeline — same code everywhere</a:t>
            </a:r>
          </a:p>
        </p:txBody>
      </p:sp>
      <p:sp>
        <p:nvSpPr>
          <p:cNvPr id="4" name="Rounded Rectangle 3"/>
          <p:cNvSpPr/>
          <p:nvPr/>
        </p:nvSpPr>
        <p:spPr>
          <a:xfrm>
            <a:off x="9402775" y="384048"/>
            <a:ext cx="2286000" cy="420624"/>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Ruihe “Louis” Zhang</a:t>
            </a:r>
          </a:p>
        </p:txBody>
      </p:sp>
      <p:sp>
        <p:nvSpPr>
          <p:cNvPr id="5" name="Rounded Rectangle 4"/>
          <p:cNvSpPr/>
          <p:nvPr/>
        </p:nvSpPr>
        <p:spPr>
          <a:xfrm>
            <a:off x="566928" y="1691640"/>
            <a:ext cx="2606040" cy="1051560"/>
          </a:xfrm>
          <a:prstGeom prst="roundRect">
            <a:avLst>
              <a:gd name="adj" fmla="val 12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400" b="1" i="0">
                <a:solidFill>
                  <a:srgbClr val="111827"/>
                </a:solidFill>
                <a:latin typeface="Calibri"/>
              </a:rPr>
              <a:t>ingest</a:t>
            </a:r>
          </a:p>
          <a:p>
            <a:pPr algn="ctr">
              <a:spcBef>
                <a:spcPts val="100"/>
              </a:spcBef>
              <a:spcAft>
                <a:spcPts val="0"/>
              </a:spcAft>
            </a:pPr>
            <a:r>
              <a:rPr sz="1000" b="0" i="0">
                <a:solidFill>
                  <a:srgbClr val="1F2937"/>
                </a:solidFill>
                <a:latin typeface="Calibri"/>
              </a:rPr>
              <a:t>trips + weather → 15-min demand</a:t>
            </a:r>
          </a:p>
        </p:txBody>
      </p:sp>
      <p:sp>
        <p:nvSpPr>
          <p:cNvPr id="6" name="Rounded Rectangle 5"/>
          <p:cNvSpPr/>
          <p:nvPr/>
        </p:nvSpPr>
        <p:spPr>
          <a:xfrm>
            <a:off x="3337560" y="1691640"/>
            <a:ext cx="2606040" cy="1051560"/>
          </a:xfrm>
          <a:prstGeom prst="roundRect">
            <a:avLst>
              <a:gd name="adj" fmla="val 12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400" b="1" i="0">
                <a:solidFill>
                  <a:srgbClr val="111827"/>
                </a:solidFill>
                <a:latin typeface="Calibri"/>
              </a:rPr>
              <a:t>features</a:t>
            </a:r>
          </a:p>
          <a:p>
            <a:pPr algn="ctr">
              <a:spcBef>
                <a:spcPts val="100"/>
              </a:spcBef>
              <a:spcAft>
                <a:spcPts val="0"/>
              </a:spcAft>
            </a:pPr>
            <a:r>
              <a:rPr sz="1000" b="0" i="0">
                <a:solidFill>
                  <a:srgbClr val="1F2937"/>
                </a:solidFill>
                <a:latin typeface="Calibri"/>
              </a:rPr>
              <a:t>leakage-safe feature tables</a:t>
            </a:r>
          </a:p>
        </p:txBody>
      </p:sp>
      <p:sp>
        <p:nvSpPr>
          <p:cNvPr id="7" name="Rounded Rectangle 6"/>
          <p:cNvSpPr/>
          <p:nvPr/>
        </p:nvSpPr>
        <p:spPr>
          <a:xfrm>
            <a:off x="6108192" y="1691640"/>
            <a:ext cx="2606040" cy="1051560"/>
          </a:xfrm>
          <a:prstGeom prst="roundRect">
            <a:avLst>
              <a:gd name="adj" fmla="val 12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400" b="1" i="0">
                <a:solidFill>
                  <a:srgbClr val="111827"/>
                </a:solidFill>
                <a:latin typeface="Calibri"/>
              </a:rPr>
              <a:t>data</a:t>
            </a:r>
          </a:p>
          <a:p>
            <a:pPr algn="ctr">
              <a:spcBef>
                <a:spcPts val="100"/>
              </a:spcBef>
              <a:spcAft>
                <a:spcPts val="0"/>
              </a:spcAft>
            </a:pPr>
            <a:r>
              <a:rPr sz="1000" b="0" i="0">
                <a:solidFill>
                  <a:srgbClr val="1F2937"/>
                </a:solidFill>
                <a:latin typeface="Calibri"/>
              </a:rPr>
              <a:t>encode, tiers, range-filter</a:t>
            </a:r>
          </a:p>
        </p:txBody>
      </p:sp>
      <p:sp>
        <p:nvSpPr>
          <p:cNvPr id="8" name="Rounded Rectangle 7"/>
          <p:cNvSpPr/>
          <p:nvPr/>
        </p:nvSpPr>
        <p:spPr>
          <a:xfrm>
            <a:off x="8878824" y="1691640"/>
            <a:ext cx="2606040" cy="1051560"/>
          </a:xfrm>
          <a:prstGeom prst="roundRect">
            <a:avLst>
              <a:gd name="adj" fmla="val 12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400" b="1" i="0">
                <a:solidFill>
                  <a:srgbClr val="111827"/>
                </a:solidFill>
                <a:latin typeface="Calibri"/>
              </a:rPr>
              <a:t>train</a:t>
            </a:r>
          </a:p>
          <a:p>
            <a:pPr algn="ctr">
              <a:spcBef>
                <a:spcPts val="100"/>
              </a:spcBef>
              <a:spcAft>
                <a:spcPts val="0"/>
              </a:spcAft>
            </a:pPr>
            <a:r>
              <a:rPr sz="1000" b="0" i="0">
                <a:solidFill>
                  <a:srgbClr val="1F2937"/>
                </a:solidFill>
                <a:latin typeface="Calibri"/>
              </a:rPr>
              <a:t>candidates + FLAML + Optuna</a:t>
            </a:r>
          </a:p>
        </p:txBody>
      </p:sp>
      <p:sp>
        <p:nvSpPr>
          <p:cNvPr id="9" name="Rounded Rectangle 8"/>
          <p:cNvSpPr/>
          <p:nvPr/>
        </p:nvSpPr>
        <p:spPr>
          <a:xfrm>
            <a:off x="566928" y="3383280"/>
            <a:ext cx="2606040" cy="1051560"/>
          </a:xfrm>
          <a:prstGeom prst="roundRect">
            <a:avLst>
              <a:gd name="adj" fmla="val 12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400" b="1" i="0">
                <a:solidFill>
                  <a:srgbClr val="111827"/>
                </a:solidFill>
                <a:latin typeface="Calibri"/>
              </a:rPr>
              <a:t>explain</a:t>
            </a:r>
          </a:p>
          <a:p>
            <a:pPr algn="ctr">
              <a:spcBef>
                <a:spcPts val="100"/>
              </a:spcBef>
              <a:spcAft>
                <a:spcPts val="0"/>
              </a:spcAft>
            </a:pPr>
            <a:r>
              <a:rPr sz="1000" b="0" i="0">
                <a:solidFill>
                  <a:srgbClr val="1F2937"/>
                </a:solidFill>
                <a:latin typeface="Calibri"/>
              </a:rPr>
              <a:t>SHAP + LIME</a:t>
            </a:r>
          </a:p>
        </p:txBody>
      </p:sp>
      <p:sp>
        <p:nvSpPr>
          <p:cNvPr id="10" name="Rounded Rectangle 9"/>
          <p:cNvSpPr/>
          <p:nvPr/>
        </p:nvSpPr>
        <p:spPr>
          <a:xfrm>
            <a:off x="3337560" y="3383280"/>
            <a:ext cx="2606040" cy="1051560"/>
          </a:xfrm>
          <a:prstGeom prst="roundRect">
            <a:avLst>
              <a:gd name="adj" fmla="val 12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400" b="1" i="0">
                <a:solidFill>
                  <a:srgbClr val="111827"/>
                </a:solidFill>
                <a:latin typeface="Calibri"/>
              </a:rPr>
              <a:t>fairness</a:t>
            </a:r>
          </a:p>
          <a:p>
            <a:pPr algn="ctr">
              <a:spcBef>
                <a:spcPts val="100"/>
              </a:spcBef>
              <a:spcAft>
                <a:spcPts val="0"/>
              </a:spcAft>
            </a:pPr>
            <a:r>
              <a:rPr sz="1000" b="0" i="0">
                <a:solidFill>
                  <a:srgbClr val="1F2937"/>
                </a:solidFill>
                <a:latin typeface="Calibri"/>
              </a:rPr>
              <a:t>error parity</a:t>
            </a:r>
          </a:p>
        </p:txBody>
      </p:sp>
      <p:sp>
        <p:nvSpPr>
          <p:cNvPr id="11" name="Rounded Rectangle 10"/>
          <p:cNvSpPr/>
          <p:nvPr/>
        </p:nvSpPr>
        <p:spPr>
          <a:xfrm>
            <a:off x="6108192" y="3383280"/>
            <a:ext cx="2606040" cy="1051560"/>
          </a:xfrm>
          <a:prstGeom prst="roundRect">
            <a:avLst>
              <a:gd name="adj" fmla="val 12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400" b="1" i="0">
                <a:solidFill>
                  <a:srgbClr val="111827"/>
                </a:solidFill>
                <a:latin typeface="Calibri"/>
              </a:rPr>
              <a:t>drift</a:t>
            </a:r>
          </a:p>
          <a:p>
            <a:pPr algn="ctr">
              <a:spcBef>
                <a:spcPts val="100"/>
              </a:spcBef>
              <a:spcAft>
                <a:spcPts val="0"/>
              </a:spcAft>
            </a:pPr>
            <a:r>
              <a:rPr sz="1000" b="0" i="0">
                <a:solidFill>
                  <a:srgbClr val="1F2937"/>
                </a:solidFill>
                <a:latin typeface="Calibri"/>
              </a:rPr>
              <a:t>Evidently 4-type</a:t>
            </a:r>
          </a:p>
        </p:txBody>
      </p:sp>
      <p:sp>
        <p:nvSpPr>
          <p:cNvPr id="12" name="Rounded Rectangle 11"/>
          <p:cNvSpPr/>
          <p:nvPr/>
        </p:nvSpPr>
        <p:spPr>
          <a:xfrm>
            <a:off x="8878824" y="3383280"/>
            <a:ext cx="2606040" cy="1051560"/>
          </a:xfrm>
          <a:prstGeom prst="roundRect">
            <a:avLst>
              <a:gd name="adj" fmla="val 12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400" b="1" i="0">
                <a:solidFill>
                  <a:srgbClr val="111827"/>
                </a:solidFill>
                <a:latin typeface="Calibri"/>
              </a:rPr>
              <a:t>register</a:t>
            </a:r>
          </a:p>
          <a:p>
            <a:pPr algn="ctr">
              <a:spcBef>
                <a:spcPts val="100"/>
              </a:spcBef>
              <a:spcAft>
                <a:spcPts val="0"/>
              </a:spcAft>
            </a:pPr>
            <a:r>
              <a:rPr sz="1000" b="0" i="0">
                <a:solidFill>
                  <a:srgbClr val="1F2937"/>
                </a:solidFill>
                <a:latin typeface="Calibri"/>
              </a:rPr>
              <a:t>promote to production</a:t>
            </a:r>
          </a:p>
        </p:txBody>
      </p:sp>
      <p:cxnSp>
        <p:nvCxnSpPr>
          <p:cNvPr id="13" name="Connector 12"/>
          <p:cNvCxnSpPr/>
          <p:nvPr/>
        </p:nvCxnSpPr>
        <p:spPr>
          <a:xfrm>
            <a:off x="3172968" y="2217420"/>
            <a:ext cx="164592"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2217420"/>
            <a:ext cx="164592"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14232" y="2217420"/>
            <a:ext cx="164592"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69948" y="2743200"/>
            <a:ext cx="8311896" cy="64008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72968" y="3909060"/>
            <a:ext cx="164592"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943600" y="3909060"/>
            <a:ext cx="164592"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714232" y="3909060"/>
            <a:ext cx="164592"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66928" y="5074920"/>
            <a:ext cx="11064240" cy="1051560"/>
          </a:xfrm>
          <a:prstGeom prst="roundRect">
            <a:avLst>
              <a:gd name="adj" fmla="val 5000"/>
            </a:avLst>
          </a:prstGeom>
          <a:solidFill>
            <a:srgbClr val="F9FAF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12080"/>
            <a:ext cx="10698480" cy="868680"/>
          </a:xfrm>
          <a:prstGeom prst="rect">
            <a:avLst/>
          </a:prstGeom>
          <a:noFill/>
        </p:spPr>
        <p:txBody>
          <a:bodyPr wrap="square" anchor="t" lIns="0" rIns="0" tIns="0" bIns="0">
            <a:spAutoFit/>
          </a:bodyPr>
          <a:lstStyle/>
          <a:p>
            <a:pPr algn="l">
              <a:spcBef>
                <a:spcPts val="0"/>
              </a:spcBef>
              <a:spcAft>
                <a:spcPts val="300"/>
              </a:spcAft>
            </a:pPr>
            <a:r>
              <a:rPr sz="1200" b="0" i="0">
                <a:solidFill>
                  <a:srgbClr val="1F2937"/>
                </a:solidFill>
                <a:latin typeface="Calibri"/>
              </a:rPr>
              <a:t>Each stage writes a  </a:t>
            </a:r>
            <a:r>
              <a:rPr sz="1200" b="1" i="0">
                <a:solidFill>
                  <a:srgbClr val="111827"/>
                </a:solidFill>
                <a:latin typeface="Consolas"/>
              </a:rPr>
              <a:t>_SUCCESS</a:t>
            </a:r>
            <a:r>
              <a:rPr sz="1200" b="0" i="0">
                <a:solidFill>
                  <a:srgbClr val="1F2937"/>
                </a:solidFill>
                <a:latin typeface="Calibri"/>
              </a:rPr>
              <a:t>  marker to S3 — a run resumes from any step. Default run starts at </a:t>
            </a:r>
            <a:r>
              <a:rPr sz="1200" b="1" i="0">
                <a:solidFill>
                  <a:srgbClr val="111827"/>
                </a:solidFill>
                <a:latin typeface="Consolas"/>
              </a:rPr>
              <a:t>data</a:t>
            </a:r>
            <a:r>
              <a:rPr sz="1200" b="0" i="0">
                <a:solidFill>
                  <a:srgbClr val="1F2937"/>
                </a:solidFill>
                <a:latin typeface="Calibri"/>
              </a:rPr>
              <a:t> (cleaned data already in S3); full rebuild starts at </a:t>
            </a:r>
            <a:r>
              <a:rPr sz="1200" b="1" i="0">
                <a:solidFill>
                  <a:srgbClr val="111827"/>
                </a:solidFill>
                <a:latin typeface="Consolas"/>
              </a:rPr>
              <a:t>ingest</a:t>
            </a:r>
            <a:r>
              <a:rPr sz="1200" b="0" i="0">
                <a:solidFill>
                  <a:srgbClr val="1F2937"/>
                </a:solidFill>
                <a:latin typeface="Calibri"/>
              </a:rPr>
              <a:t>.</a:t>
            </a:r>
          </a:p>
          <a:p>
            <a:pPr algn="l">
              <a:spcBef>
                <a:spcPts val="0"/>
              </a:spcBef>
              <a:spcAft>
                <a:spcPts val="0"/>
              </a:spcAft>
            </a:pPr>
            <a:r>
              <a:rPr sz="1150" b="0" i="1">
                <a:solidFill>
                  <a:srgbClr val="6B7280"/>
                </a:solidFill>
                <a:latin typeface="Calibri"/>
              </a:rPr>
              <a:t>CI builds both Docker images and smoke-tests the pipeline image with no AWS.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B45309"/>
                </a:solidFill>
                <a:latin typeface="Calibri"/>
              </a:rPr>
              <a:t>CLEAN, CONFIG-DRIVEN DESIGN</a:t>
            </a:r>
          </a:p>
          <a:p>
            <a:pPr algn="l">
              <a:spcBef>
                <a:spcPts val="0"/>
              </a:spcBef>
              <a:spcAft>
                <a:spcPts val="0"/>
              </a:spcAft>
            </a:pPr>
            <a:r>
              <a:rPr sz="2700" b="1" i="0">
                <a:solidFill>
                  <a:srgbClr val="111827"/>
                </a:solidFill>
                <a:latin typeface="Calibri"/>
              </a:rPr>
              <a:t>Repository structure — single-responsibility modules</a:t>
            </a:r>
          </a:p>
        </p:txBody>
      </p:sp>
      <p:sp>
        <p:nvSpPr>
          <p:cNvPr id="4" name="Rounded Rectangle 3"/>
          <p:cNvSpPr/>
          <p:nvPr/>
        </p:nvSpPr>
        <p:spPr>
          <a:xfrm>
            <a:off x="9402775" y="384048"/>
            <a:ext cx="2286000" cy="420624"/>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Ruihe “Louis” Zhang</a:t>
            </a:r>
          </a:p>
        </p:txBody>
      </p:sp>
      <p:sp>
        <p:nvSpPr>
          <p:cNvPr id="5" name="Rounded Rectangle 4"/>
          <p:cNvSpPr/>
          <p:nvPr/>
        </p:nvSpPr>
        <p:spPr>
          <a:xfrm>
            <a:off x="502920" y="1554480"/>
            <a:ext cx="7269480" cy="48006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46304"/>
          <a:lstStyle/>
          <a:p>
            <a:pPr algn="ctr">
              <a:spcAft>
                <a:spcPts val="250"/>
              </a:spcAft>
            </a:pPr>
            <a:r>
              <a:rPr sz="1100" b="0" i="0">
                <a:solidFill>
                  <a:srgbClr val="F8FAFC"/>
                </a:solidFill>
                <a:latin typeface="Consolas"/>
              </a:rPr>
              <a:t>src/bixi/   </a:t>
            </a:r>
            <a:r>
              <a:rPr sz="950" b="0" i="1">
                <a:solidFill>
                  <a:srgbClr val="86EFAC"/>
                </a:solidFill>
                <a:latin typeface="Consolas"/>
              </a:rPr>
              <a:t>the pipeline package</a:t>
            </a:r>
          </a:p>
          <a:p>
            <a:pPr>
              <a:spcAft>
                <a:spcPts val="250"/>
              </a:spcAft>
            </a:pPr>
            <a:r>
              <a:rPr sz="1100" b="0" i="0">
                <a:solidFill>
                  <a:srgbClr val="F8FAFC"/>
                </a:solidFill>
                <a:latin typeface="Consolas"/>
              </a:rPr>
              <a:t> ├ config.py   </a:t>
            </a:r>
            <a:r>
              <a:rPr sz="950" b="0" i="1">
                <a:solidFill>
                  <a:srgbClr val="86EFAC"/>
                </a:solidFill>
                <a:latin typeface="Consolas"/>
              </a:rPr>
              <a:t>central config + data/feature contract + stages</a:t>
            </a:r>
          </a:p>
          <a:p>
            <a:pPr>
              <a:spcAft>
                <a:spcPts val="250"/>
              </a:spcAft>
            </a:pPr>
            <a:r>
              <a:rPr sz="1100" b="0" i="0">
                <a:solidFill>
                  <a:srgbClr val="F8FAFC"/>
                </a:solidFill>
                <a:latin typeface="Consolas"/>
              </a:rPr>
              <a:t> ├ io.py   </a:t>
            </a:r>
            <a:r>
              <a:rPr sz="950" b="0" i="1">
                <a:solidFill>
                  <a:srgbClr val="86EFAC"/>
                </a:solidFill>
                <a:latin typeface="Consolas"/>
              </a:rPr>
              <a:t>S3 + local I/O (default boto3 chain)</a:t>
            </a:r>
          </a:p>
          <a:p>
            <a:pPr>
              <a:spcAft>
                <a:spcPts val="250"/>
              </a:spcAft>
            </a:pPr>
            <a:r>
              <a:rPr sz="1100" b="0" i="0">
                <a:solidFill>
                  <a:srgbClr val="F8FAFC"/>
                </a:solidFill>
                <a:latin typeface="Consolas"/>
              </a:rPr>
              <a:t> ├ ingest.py / *_cleaning   </a:t>
            </a:r>
            <a:r>
              <a:rPr sz="950" b="0" i="1">
                <a:solidFill>
                  <a:srgbClr val="86EFAC"/>
                </a:solidFill>
                <a:latin typeface="Consolas"/>
              </a:rPr>
              <a:t>raw trips + weather → 15-min demand</a:t>
            </a:r>
          </a:p>
          <a:p>
            <a:pPr>
              <a:spcAft>
                <a:spcPts val="250"/>
              </a:spcAft>
            </a:pPr>
            <a:r>
              <a:rPr sz="1100" b="0" i="0">
                <a:solidFill>
                  <a:srgbClr val="F8FAFC"/>
                </a:solidFill>
                <a:latin typeface="Consolas"/>
              </a:rPr>
              <a:t> ├ feature_engineering   </a:t>
            </a:r>
            <a:r>
              <a:rPr sz="950" b="0" i="1">
                <a:solidFill>
                  <a:srgbClr val="86EFAC"/>
                </a:solidFill>
                <a:latin typeface="Consolas"/>
              </a:rPr>
              <a:t>leakage-safe feature tables</a:t>
            </a:r>
          </a:p>
          <a:p>
            <a:pPr>
              <a:spcAft>
                <a:spcPts val="250"/>
              </a:spcAft>
            </a:pPr>
            <a:r>
              <a:rPr sz="1100" b="0" i="0">
                <a:solidFill>
                  <a:srgbClr val="F8FAFC"/>
                </a:solidFill>
                <a:latin typeface="Consolas"/>
              </a:rPr>
              <a:t> ├ data.py   </a:t>
            </a:r>
            <a:r>
              <a:rPr sz="950" b="0" i="1">
                <a:solidFill>
                  <a:srgbClr val="86EFAC"/>
                </a:solidFill>
                <a:latin typeface="Consolas"/>
              </a:rPr>
              <a:t>range filter, station encoding, tiers</a:t>
            </a:r>
          </a:p>
          <a:p>
            <a:pPr>
              <a:spcAft>
                <a:spcPts val="250"/>
              </a:spcAft>
            </a:pPr>
            <a:r>
              <a:rPr sz="1100" b="0" i="0">
                <a:solidFill>
                  <a:srgbClr val="F8FAFC"/>
                </a:solidFill>
                <a:latin typeface="Consolas"/>
              </a:rPr>
              <a:t> ├ models.py   </a:t>
            </a:r>
            <a:r>
              <a:rPr sz="950" b="0" i="1">
                <a:solidFill>
                  <a:srgbClr val="86EFAC"/>
                </a:solidFill>
                <a:latin typeface="Consolas"/>
              </a:rPr>
              <a:t>candidates, FLAML, Optuna, metrics</a:t>
            </a:r>
          </a:p>
          <a:p>
            <a:pPr>
              <a:spcAft>
                <a:spcPts val="250"/>
              </a:spcAft>
            </a:pPr>
            <a:r>
              <a:rPr sz="1100" b="0" i="0">
                <a:solidFill>
                  <a:srgbClr val="F8FAFC"/>
                </a:solidFill>
                <a:latin typeface="Consolas"/>
              </a:rPr>
              <a:t> ├ pipeline.py   </a:t>
            </a:r>
            <a:r>
              <a:rPr sz="950" b="0" i="1">
                <a:solidFill>
                  <a:srgbClr val="86EFAC"/>
                </a:solidFill>
                <a:latin typeface="Consolas"/>
              </a:rPr>
              <a:t>resumable staged runner</a:t>
            </a:r>
          </a:p>
          <a:p>
            <a:pPr>
              <a:spcAft>
                <a:spcPts val="250"/>
              </a:spcAft>
            </a:pPr>
            <a:r>
              <a:rPr sz="1100" b="0" i="0">
                <a:solidFill>
                  <a:srgbClr val="F8FAFC"/>
                </a:solidFill>
                <a:latin typeface="Consolas"/>
              </a:rPr>
              <a:t> ├ explain / fairness / drift   </a:t>
            </a:r>
            <a:r>
              <a:rPr sz="950" b="0" i="1">
                <a:solidFill>
                  <a:srgbClr val="86EFAC"/>
                </a:solidFill>
                <a:latin typeface="Consolas"/>
              </a:rPr>
              <a:t>SHAP+LIME, parity, Evidently</a:t>
            </a:r>
          </a:p>
          <a:p>
            <a:pPr>
              <a:spcAft>
                <a:spcPts val="250"/>
              </a:spcAft>
            </a:pPr>
            <a:r>
              <a:rPr sz="1100" b="0" i="0">
                <a:solidFill>
                  <a:srgbClr val="F8FAFC"/>
                </a:solidFill>
                <a:latin typeface="Consolas"/>
              </a:rPr>
              <a:t> ├ registry.py   </a:t>
            </a:r>
            <a:r>
              <a:rPr sz="950" b="0" i="1">
                <a:solidFill>
                  <a:srgbClr val="86EFAC"/>
                </a:solidFill>
                <a:latin typeface="Consolas"/>
              </a:rPr>
              <a:t>MLflow tracking + promotion</a:t>
            </a:r>
          </a:p>
          <a:p>
            <a:pPr>
              <a:spcAft>
                <a:spcPts val="250"/>
              </a:spcAft>
            </a:pPr>
            <a:r>
              <a:rPr sz="1100" b="0" i="0">
                <a:solidFill>
                  <a:srgbClr val="F8FAFC"/>
                </a:solidFill>
                <a:latin typeface="Consolas"/>
              </a:rPr>
              <a:t> ├ rebalancing.py   </a:t>
            </a:r>
            <a:r>
              <a:rPr sz="950" b="0" i="1">
                <a:solidFill>
                  <a:srgbClr val="86EFAC"/>
                </a:solidFill>
                <a:latin typeface="Consolas"/>
              </a:rPr>
              <a:t>net-flow priorities (dep+arr)</a:t>
            </a:r>
          </a:p>
          <a:p>
            <a:pPr>
              <a:spcAft>
                <a:spcPts val="250"/>
              </a:spcAft>
            </a:pPr>
            <a:r>
              <a:rPr sz="1100" b="0" i="0">
                <a:solidFill>
                  <a:srgbClr val="F8FAFC"/>
                </a:solidFill>
                <a:latin typeface="Consolas"/>
              </a:rPr>
              <a:t> └ streamlit_*_serving   </a:t>
            </a:r>
            <a:r>
              <a:rPr sz="950" b="0" i="1">
                <a:solidFill>
                  <a:srgbClr val="86EFAC"/>
                </a:solidFill>
                <a:latin typeface="Consolas"/>
              </a:rPr>
              <a:t>local + S3 serving helpers</a:t>
            </a:r>
          </a:p>
          <a:p>
            <a:pPr>
              <a:spcAft>
                <a:spcPts val="250"/>
              </a:spcAft>
            </a:pPr>
            <a:r>
              <a:rPr sz="1100" b="0" i="0">
                <a:solidFill>
                  <a:srgbClr val="F8FAFC"/>
                </a:solidFill>
                <a:latin typeface="Consolas"/>
              </a:rPr>
              <a:t>app.py / app_ec2.py   </a:t>
            </a:r>
            <a:r>
              <a:rPr sz="950" b="0" i="1">
                <a:solidFill>
                  <a:srgbClr val="86EFAC"/>
                </a:solidFill>
                <a:latin typeface="Consolas"/>
              </a:rPr>
              <a:t>Streamlit UIs (Cloud / EC2)</a:t>
            </a:r>
          </a:p>
          <a:p>
            <a:pPr>
              <a:spcAft>
                <a:spcPts val="250"/>
              </a:spcAft>
            </a:pPr>
            <a:r>
              <a:rPr sz="1100" b="0" i="0">
                <a:solidFill>
                  <a:srgbClr val="F8FAFC"/>
                </a:solidFill>
                <a:latin typeface="Consolas"/>
              </a:rPr>
              <a:t>infra/   </a:t>
            </a:r>
            <a:r>
              <a:rPr sz="950" b="0" i="1">
                <a:solidFill>
                  <a:srgbClr val="86EFAC"/>
                </a:solidFill>
                <a:latin typeface="Consolas"/>
              </a:rPr>
              <a:t>AWS CDK app (4 stacks)</a:t>
            </a:r>
          </a:p>
          <a:p>
            <a:pPr>
              <a:spcAft>
                <a:spcPts val="250"/>
              </a:spcAft>
            </a:pPr>
            <a:r>
              <a:rPr sz="1100" b="0" i="0">
                <a:solidFill>
                  <a:srgbClr val="F8FAFC"/>
                </a:solidFill>
                <a:latin typeface="Consolas"/>
              </a:rPr>
              <a:t>docker/   </a:t>
            </a:r>
            <a:r>
              <a:rPr sz="950" b="0" i="1">
                <a:solidFill>
                  <a:srgbClr val="86EFAC"/>
                </a:solidFill>
                <a:latin typeface="Consolas"/>
              </a:rPr>
              <a:t>Dockerfile.train, Dockerfile.streamlit_ec2</a:t>
            </a:r>
          </a:p>
          <a:p>
            <a:pPr>
              <a:spcAft>
                <a:spcPts val="250"/>
              </a:spcAft>
            </a:pPr>
            <a:r>
              <a:rPr sz="1100" b="0" i="0">
                <a:solidFill>
                  <a:srgbClr val="F8FAFC"/>
                </a:solidFill>
                <a:latin typeface="Consolas"/>
              </a:rPr>
              <a:t>tests/   </a:t>
            </a:r>
            <a:r>
              <a:rPr sz="950" b="0" i="1">
                <a:solidFill>
                  <a:srgbClr val="86EFAC"/>
                </a:solidFill>
                <a:latin typeface="Consolas"/>
              </a:rPr>
              <a:t>pytest (synthetic data, no network)</a:t>
            </a:r>
          </a:p>
          <a:p>
            <a:pPr>
              <a:spcAft>
                <a:spcPts val="250"/>
              </a:spcAft>
            </a:pPr>
            <a:r>
              <a:rPr sz="1100" b="0" i="0">
                <a:solidFill>
                  <a:srgbClr val="F8FAFC"/>
                </a:solidFill>
                <a:latin typeface="Consolas"/>
              </a:rPr>
              <a:t>docs/   </a:t>
            </a:r>
            <a:r>
              <a:rPr sz="950" b="0" i="1">
                <a:solidFill>
                  <a:srgbClr val="86EFAC"/>
                </a:solidFill>
                <a:latin typeface="Consolas"/>
              </a:rPr>
              <a:t>scripts/  notebooks/</a:t>
            </a:r>
          </a:p>
        </p:txBody>
      </p:sp>
      <p:sp>
        <p:nvSpPr>
          <p:cNvPr id="6" name="TextBox 5"/>
          <p:cNvSpPr txBox="1"/>
          <p:nvPr/>
        </p:nvSpPr>
        <p:spPr>
          <a:xfrm>
            <a:off x="8046720" y="1600200"/>
            <a:ext cx="3657600" cy="4663440"/>
          </a:xfrm>
          <a:prstGeom prst="rect">
            <a:avLst/>
          </a:prstGeom>
          <a:noFill/>
        </p:spPr>
        <p:txBody>
          <a:bodyPr wrap="square" anchor="t" lIns="0" rIns="0" tIns="0" bIns="0">
            <a:spAutoFit/>
          </a:bodyPr>
          <a:lstStyle/>
          <a:p>
            <a:pPr algn="l">
              <a:spcBef>
                <a:spcPts val="0"/>
              </a:spcBef>
              <a:spcAft>
                <a:spcPts val="800"/>
              </a:spcAft>
            </a:pPr>
            <a:r>
              <a:rPr sz="1500" b="1" i="0">
                <a:solidFill>
                  <a:srgbClr val="B45309"/>
                </a:solidFill>
                <a:latin typeface="Calibri"/>
              </a:rPr>
              <a:t>Why it scores</a:t>
            </a:r>
          </a:p>
          <a:p>
            <a:pPr algn="l">
              <a:spcBef>
                <a:spcPts val="0"/>
              </a:spcBef>
              <a:spcAft>
                <a:spcPts val="100"/>
              </a:spcAft>
            </a:pPr>
            <a:r>
              <a:rPr sz="1250" b="1" i="0">
                <a:solidFill>
                  <a:srgbClr val="B91C1C"/>
                </a:solidFill>
                <a:latin typeface="Calibri"/>
              </a:rPr>
              <a:t>▸  </a:t>
            </a:r>
            <a:r>
              <a:rPr sz="1250" b="1" i="0">
                <a:solidFill>
                  <a:srgbClr val="111827"/>
                </a:solidFill>
                <a:latin typeface="Calibri"/>
              </a:rPr>
              <a:t>Single responsibility</a:t>
            </a:r>
          </a:p>
          <a:p>
            <a:pPr algn="l">
              <a:lnSpc>
                <a:spcPct val="103000"/>
              </a:lnSpc>
              <a:spcBef>
                <a:spcPts val="0"/>
              </a:spcBef>
              <a:spcAft>
                <a:spcPts val="700"/>
              </a:spcAft>
            </a:pPr>
            <a:r>
              <a:rPr sz="1100" b="0" i="0">
                <a:solidFill>
                  <a:srgbClr val="6B7280"/>
                </a:solidFill>
                <a:latin typeface="Calibri"/>
              </a:rPr>
              <a:t>each module owns one stage of the contract in config.py.</a:t>
            </a:r>
          </a:p>
          <a:p>
            <a:pPr algn="l">
              <a:spcBef>
                <a:spcPts val="0"/>
              </a:spcBef>
              <a:spcAft>
                <a:spcPts val="100"/>
              </a:spcAft>
            </a:pPr>
            <a:r>
              <a:rPr sz="1250" b="1" i="0">
                <a:solidFill>
                  <a:srgbClr val="B91C1C"/>
                </a:solidFill>
                <a:latin typeface="Calibri"/>
              </a:rPr>
              <a:t>▸  </a:t>
            </a:r>
            <a:r>
              <a:rPr sz="1250" b="1" i="0">
                <a:solidFill>
                  <a:srgbClr val="111827"/>
                </a:solidFill>
                <a:latin typeface="Calibri"/>
              </a:rPr>
              <a:t>Config-driven</a:t>
            </a:r>
          </a:p>
          <a:p>
            <a:pPr algn="l">
              <a:lnSpc>
                <a:spcPct val="103000"/>
              </a:lnSpc>
              <a:spcBef>
                <a:spcPts val="0"/>
              </a:spcBef>
              <a:spcAft>
                <a:spcPts val="700"/>
              </a:spcAft>
            </a:pPr>
            <a:r>
              <a:rPr sz="1100" b="0" i="0">
                <a:solidFill>
                  <a:srgbClr val="6B7280"/>
                </a:solidFill>
                <a:latin typeface="Calibri"/>
              </a:rPr>
              <a:t>env vars switch local subsample ↔ full cloud run — same code.</a:t>
            </a:r>
          </a:p>
          <a:p>
            <a:pPr algn="l">
              <a:spcBef>
                <a:spcPts val="0"/>
              </a:spcBef>
              <a:spcAft>
                <a:spcPts val="100"/>
              </a:spcAft>
            </a:pPr>
            <a:r>
              <a:rPr sz="1250" b="1" i="0">
                <a:solidFill>
                  <a:srgbClr val="B91C1C"/>
                </a:solidFill>
                <a:latin typeface="Calibri"/>
              </a:rPr>
              <a:t>▸  </a:t>
            </a:r>
            <a:r>
              <a:rPr sz="1250" b="1" i="0">
                <a:solidFill>
                  <a:srgbClr val="111827"/>
                </a:solidFill>
                <a:latin typeface="Calibri"/>
              </a:rPr>
              <a:t>Infra as code</a:t>
            </a:r>
          </a:p>
          <a:p>
            <a:pPr algn="l">
              <a:lnSpc>
                <a:spcPct val="103000"/>
              </a:lnSpc>
              <a:spcBef>
                <a:spcPts val="0"/>
              </a:spcBef>
              <a:spcAft>
                <a:spcPts val="700"/>
              </a:spcAft>
            </a:pPr>
            <a:r>
              <a:rPr sz="1100" b="0" i="0">
                <a:solidFill>
                  <a:srgbClr val="6B7280"/>
                </a:solidFill>
                <a:latin typeface="Calibri"/>
              </a:rPr>
              <a:t>every AWS resource lives in infra/ CDK — nothing clicked.</a:t>
            </a:r>
          </a:p>
          <a:p>
            <a:pPr algn="l">
              <a:spcBef>
                <a:spcPts val="0"/>
              </a:spcBef>
              <a:spcAft>
                <a:spcPts val="100"/>
              </a:spcAft>
            </a:pPr>
            <a:r>
              <a:rPr sz="1250" b="1" i="0">
                <a:solidFill>
                  <a:srgbClr val="B91C1C"/>
                </a:solidFill>
                <a:latin typeface="Calibri"/>
              </a:rPr>
              <a:t>▸  </a:t>
            </a:r>
            <a:r>
              <a:rPr sz="1250" b="1" i="0">
                <a:solidFill>
                  <a:srgbClr val="111827"/>
                </a:solidFill>
                <a:latin typeface="Calibri"/>
              </a:rPr>
              <a:t>Tested &amp; CI-gated</a:t>
            </a:r>
          </a:p>
          <a:p>
            <a:pPr algn="l">
              <a:lnSpc>
                <a:spcPct val="103000"/>
              </a:lnSpc>
              <a:spcBef>
                <a:spcPts val="0"/>
              </a:spcBef>
              <a:spcAft>
                <a:spcPts val="700"/>
              </a:spcAft>
            </a:pPr>
            <a:r>
              <a:rPr sz="1100" b="0" i="0">
                <a:solidFill>
                  <a:srgbClr val="6B7280"/>
                </a:solidFill>
                <a:latin typeface="Calibri"/>
              </a:rPr>
              <a:t>pytest on synthetic data; PRs must stay green.</a:t>
            </a:r>
          </a:p>
          <a:p>
            <a:pPr algn="l">
              <a:spcBef>
                <a:spcPts val="0"/>
              </a:spcBef>
              <a:spcAft>
                <a:spcPts val="100"/>
              </a:spcAft>
            </a:pPr>
            <a:r>
              <a:rPr sz="1250" b="1" i="0">
                <a:solidFill>
                  <a:srgbClr val="B91C1C"/>
                </a:solidFill>
                <a:latin typeface="Calibri"/>
              </a:rPr>
              <a:t>▸  </a:t>
            </a:r>
            <a:r>
              <a:rPr sz="1250" b="1" i="0">
                <a:solidFill>
                  <a:srgbClr val="111827"/>
                </a:solidFill>
                <a:latin typeface="Calibri"/>
              </a:rPr>
              <a:t>Reproducible</a:t>
            </a:r>
          </a:p>
          <a:p>
            <a:pPr algn="l">
              <a:lnSpc>
                <a:spcPct val="103000"/>
              </a:lnSpc>
              <a:spcBef>
                <a:spcPts val="0"/>
              </a:spcBef>
              <a:spcAft>
                <a:spcPts val="700"/>
              </a:spcAft>
            </a:pPr>
            <a:r>
              <a:rPr sz="1100" b="0" i="0">
                <a:solidFill>
                  <a:srgbClr val="6B7280"/>
                </a:solidFill>
                <a:latin typeface="Calibri"/>
              </a:rPr>
              <a:t>Docker pins the runtime for training and serving.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1D4ED8"/>
                </a:solidFill>
                <a:latin typeface="Calibri"/>
              </a:rPr>
              <a:t>PREDICTIVE MODELLING</a:t>
            </a:r>
          </a:p>
          <a:p>
            <a:pPr algn="l">
              <a:spcBef>
                <a:spcPts val="0"/>
              </a:spcBef>
              <a:spcAft>
                <a:spcPts val="0"/>
              </a:spcAft>
            </a:pPr>
            <a:r>
              <a:rPr sz="2700" b="1" i="0">
                <a:solidFill>
                  <a:srgbClr val="111827"/>
                </a:solidFill>
                <a:latin typeface="Calibri"/>
              </a:rPr>
              <a:t>Modelling — a multi-model search, auto-selected</a:t>
            </a:r>
          </a:p>
        </p:txBody>
      </p:sp>
      <p:sp>
        <p:nvSpPr>
          <p:cNvPr id="4" name="Rounded Rectangle 3"/>
          <p:cNvSpPr/>
          <p:nvPr/>
        </p:nvSpPr>
        <p:spPr>
          <a:xfrm>
            <a:off x="9402775" y="384048"/>
            <a:ext cx="2286000" cy="42062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Othmane Zizi</a:t>
            </a:r>
          </a:p>
        </p:txBody>
      </p:sp>
      <p:sp>
        <p:nvSpPr>
          <p:cNvPr id="5" name="Rounded Rectangle 4"/>
          <p:cNvSpPr/>
          <p:nvPr/>
        </p:nvSpPr>
        <p:spPr>
          <a:xfrm>
            <a:off x="502920" y="1783080"/>
            <a:ext cx="2514600" cy="1371600"/>
          </a:xfrm>
          <a:prstGeom prst="roundRect">
            <a:avLst>
              <a:gd name="adj" fmla="val 10000"/>
            </a:avLst>
          </a:prstGeom>
          <a:solidFill>
            <a:srgbClr val="F9FA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400" b="1" i="0">
                <a:solidFill>
                  <a:srgbClr val="111827"/>
                </a:solidFill>
                <a:latin typeface="Calibri"/>
              </a:rPr>
              <a:t>Candidates</a:t>
            </a:r>
          </a:p>
          <a:p>
            <a:pPr algn="ctr">
              <a:spcBef>
                <a:spcPts val="100"/>
              </a:spcBef>
              <a:spcAft>
                <a:spcPts val="0"/>
              </a:spcAft>
            </a:pPr>
            <a:r>
              <a:rPr sz="1100" b="0" i="0">
                <a:solidFill>
                  <a:srgbClr val="1F2937"/>
                </a:solidFill>
                <a:latin typeface="Calibri"/>
              </a:rPr>
              <a:t>LightGBM  +  XGBoost
baselines</a:t>
            </a:r>
          </a:p>
        </p:txBody>
      </p:sp>
      <p:sp>
        <p:nvSpPr>
          <p:cNvPr id="6" name="Rounded Rectangle 5"/>
          <p:cNvSpPr/>
          <p:nvPr/>
        </p:nvSpPr>
        <p:spPr>
          <a:xfrm>
            <a:off x="502920" y="3383280"/>
            <a:ext cx="2514600" cy="1097280"/>
          </a:xfrm>
          <a:prstGeom prst="roundRect">
            <a:avLst>
              <a:gd name="adj" fmla="val 10000"/>
            </a:avLst>
          </a:prstGeom>
          <a:solidFill>
            <a:srgbClr val="F9FA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300" b="1" i="0">
                <a:solidFill>
                  <a:srgbClr val="111827"/>
                </a:solidFill>
                <a:latin typeface="Calibri"/>
              </a:rPr>
              <a:t>FLAML AutoML</a:t>
            </a:r>
          </a:p>
          <a:p>
            <a:pPr algn="ctr">
              <a:spcBef>
                <a:spcPts val="100"/>
              </a:spcBef>
              <a:spcAft>
                <a:spcPts val="0"/>
              </a:spcAft>
            </a:pPr>
            <a:r>
              <a:rPr sz="1050" b="0" i="0">
                <a:solidFill>
                  <a:srgbClr val="1F2937"/>
                </a:solidFill>
                <a:latin typeface="Calibri"/>
              </a:rPr>
              <a:t>automated model + config search</a:t>
            </a:r>
          </a:p>
        </p:txBody>
      </p:sp>
      <p:sp>
        <p:nvSpPr>
          <p:cNvPr id="7" name="Rounded Rectangle 6"/>
          <p:cNvSpPr/>
          <p:nvPr/>
        </p:nvSpPr>
        <p:spPr>
          <a:xfrm>
            <a:off x="3291840" y="2560320"/>
            <a:ext cx="2514600" cy="1280160"/>
          </a:xfrm>
          <a:prstGeom prst="roundRect">
            <a:avLst>
              <a:gd name="adj" fmla="val 10000"/>
            </a:avLst>
          </a:prstGeom>
          <a:solidFill>
            <a:srgbClr val="EFF6FF"/>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400" b="1" i="0">
                <a:solidFill>
                  <a:srgbClr val="111827"/>
                </a:solidFill>
                <a:latin typeface="Calibri"/>
              </a:rPr>
              <a:t>Optuna HPO</a:t>
            </a:r>
          </a:p>
          <a:p>
            <a:pPr algn="ctr">
              <a:spcBef>
                <a:spcPts val="100"/>
              </a:spcBef>
              <a:spcAft>
                <a:spcPts val="0"/>
              </a:spcAft>
            </a:pPr>
            <a:r>
              <a:rPr sz="1100" b="0" i="0">
                <a:solidFill>
                  <a:srgbClr val="1F2937"/>
                </a:solidFill>
                <a:latin typeface="Calibri"/>
              </a:rPr>
              <a:t>Bayesian search
every trial → MLflow</a:t>
            </a:r>
          </a:p>
        </p:txBody>
      </p:sp>
      <p:cxnSp>
        <p:nvCxnSpPr>
          <p:cNvPr id="8" name="Connector 7"/>
          <p:cNvCxnSpPr/>
          <p:nvPr/>
        </p:nvCxnSpPr>
        <p:spPr>
          <a:xfrm>
            <a:off x="3017520" y="2468880"/>
            <a:ext cx="274320" cy="411480"/>
          </a:xfrm>
          <a:prstGeom prst="line">
            <a:avLst/>
          </a:prstGeom>
          <a:ln w="1905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3017520" y="3520439"/>
            <a:ext cx="274320" cy="411481"/>
          </a:xfrm>
          <a:prstGeom prst="line">
            <a:avLst/>
          </a:prstGeom>
          <a:ln w="1905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080760" y="2651760"/>
            <a:ext cx="2606040" cy="1097280"/>
          </a:xfrm>
          <a:prstGeom prst="roundRect">
            <a:avLst>
              <a:gd name="adj" fmla="val 10000"/>
            </a:avLst>
          </a:prstGeom>
          <a:solidFill>
            <a:srgbClr val="EFF6FF"/>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400" b="1" i="0">
                <a:solidFill>
                  <a:srgbClr val="111827"/>
                </a:solidFill>
                <a:latin typeface="Calibri"/>
              </a:rPr>
              <a:t>Select best</a:t>
            </a:r>
          </a:p>
          <a:p>
            <a:pPr algn="ctr">
              <a:spcBef>
                <a:spcPts val="100"/>
              </a:spcBef>
              <a:spcAft>
                <a:spcPts val="0"/>
              </a:spcAft>
            </a:pPr>
            <a:r>
              <a:rPr sz="1100" b="0" i="0">
                <a:solidFill>
                  <a:srgbClr val="1F2937"/>
                </a:solidFill>
                <a:latin typeface="Calibri"/>
              </a:rPr>
              <a:t>by validation RMSE</a:t>
            </a:r>
          </a:p>
        </p:txBody>
      </p:sp>
      <p:cxnSp>
        <p:nvCxnSpPr>
          <p:cNvPr id="11" name="Connector 10"/>
          <p:cNvCxnSpPr/>
          <p:nvPr/>
        </p:nvCxnSpPr>
        <p:spPr>
          <a:xfrm>
            <a:off x="5806440" y="3200400"/>
            <a:ext cx="274320" cy="0"/>
          </a:xfrm>
          <a:prstGeom prst="line">
            <a:avLst/>
          </a:prstGeom>
          <a:ln w="1905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961120" y="2651760"/>
            <a:ext cx="2697480" cy="1097280"/>
          </a:xfrm>
          <a:prstGeom prst="roundRect">
            <a:avLst>
              <a:gd name="adj" fmla="val 10000"/>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Bef>
                <a:spcPts val="0"/>
              </a:spcBef>
              <a:spcAft>
                <a:spcPts val="0"/>
              </a:spcAft>
            </a:pPr>
            <a:r>
              <a:rPr sz="1500" b="1" i="0">
                <a:solidFill>
                  <a:srgbClr val="15803D"/>
                </a:solidFill>
                <a:latin typeface="Calibri"/>
              </a:rPr>
              <a:t>lgbm_optuna</a:t>
            </a:r>
          </a:p>
          <a:p>
            <a:pPr algn="ctr">
              <a:spcBef>
                <a:spcPts val="100"/>
              </a:spcBef>
              <a:spcAft>
                <a:spcPts val="0"/>
              </a:spcAft>
            </a:pPr>
            <a:r>
              <a:rPr sz="1050" b="0" i="0">
                <a:solidFill>
                  <a:srgbClr val="1F2937"/>
                </a:solidFill>
                <a:latin typeface="Calibri"/>
              </a:rPr>
              <a:t>promoted → production alias</a:t>
            </a:r>
          </a:p>
        </p:txBody>
      </p:sp>
      <p:cxnSp>
        <p:nvCxnSpPr>
          <p:cNvPr id="13" name="Connector 12"/>
          <p:cNvCxnSpPr/>
          <p:nvPr/>
        </p:nvCxnSpPr>
        <p:spPr>
          <a:xfrm>
            <a:off x="8686800" y="3200400"/>
            <a:ext cx="274320" cy="0"/>
          </a:xfrm>
          <a:prstGeom prst="line">
            <a:avLst/>
          </a:prstGeom>
          <a:ln w="1905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2920" y="5257800"/>
            <a:ext cx="11201400" cy="1005840"/>
          </a:xfrm>
          <a:prstGeom prst="roundRect">
            <a:avLst>
              <a:gd name="adj" fmla="val 5000"/>
            </a:avLst>
          </a:prstGeom>
          <a:solidFill>
            <a:srgbClr val="F9FA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394960"/>
            <a:ext cx="10789920" cy="82296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1F2937"/>
                </a:solidFill>
                <a:latin typeface="Calibri"/>
              </a:rPr>
              <a:t>Run once per target (departure &amp; arrival). Both targets independently select lgbm_optuna — a consistent, automatic, reproducible winner, not a hand-picked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1D4ED8"/>
                </a:solidFill>
                <a:latin typeface="Calibri"/>
              </a:rPr>
              <a:t>EXPERIMENT TRACKING &amp; REGISTRY</a:t>
            </a:r>
          </a:p>
          <a:p>
            <a:pPr algn="l">
              <a:spcBef>
                <a:spcPts val="0"/>
              </a:spcBef>
              <a:spcAft>
                <a:spcPts val="0"/>
              </a:spcAft>
            </a:pPr>
            <a:r>
              <a:rPr sz="2700" b="1" i="0">
                <a:solidFill>
                  <a:srgbClr val="111827"/>
                </a:solidFill>
                <a:latin typeface="Calibri"/>
              </a:rPr>
              <a:t>MLflow — every run tracked, best model registered</a:t>
            </a:r>
          </a:p>
        </p:txBody>
      </p:sp>
      <p:sp>
        <p:nvSpPr>
          <p:cNvPr id="4" name="Rounded Rectangle 3"/>
          <p:cNvSpPr/>
          <p:nvPr/>
        </p:nvSpPr>
        <p:spPr>
          <a:xfrm>
            <a:off x="9402775" y="384048"/>
            <a:ext cx="2286000" cy="42062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Othmane Zizi</a:t>
            </a:r>
          </a:p>
        </p:txBody>
      </p:sp>
      <p:sp>
        <p:nvSpPr>
          <p:cNvPr id="5" name="Rectangle 4"/>
          <p:cNvSpPr/>
          <p:nvPr/>
        </p:nvSpPr>
        <p:spPr>
          <a:xfrm>
            <a:off x="502920" y="1837372"/>
            <a:ext cx="3703320" cy="2314574"/>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lflow_departure_runs.png"/>
          <p:cNvPicPr>
            <a:picLocks noChangeAspect="1"/>
          </p:cNvPicPr>
          <p:nvPr/>
        </p:nvPicPr>
        <p:blipFill>
          <a:blip r:embed="rId2"/>
          <a:stretch>
            <a:fillRect/>
          </a:stretch>
        </p:blipFill>
        <p:spPr>
          <a:xfrm>
            <a:off x="502920" y="1837372"/>
            <a:ext cx="3703320" cy="2314574"/>
          </a:xfrm>
          <a:prstGeom prst="rect">
            <a:avLst/>
          </a:prstGeom>
        </p:spPr>
      </p:pic>
      <p:sp>
        <p:nvSpPr>
          <p:cNvPr id="7" name="Rectangle 6"/>
          <p:cNvSpPr/>
          <p:nvPr/>
        </p:nvSpPr>
        <p:spPr>
          <a:xfrm>
            <a:off x="4315968" y="1837372"/>
            <a:ext cx="3703320" cy="2314574"/>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lflow_arrival_runs.png"/>
          <p:cNvPicPr>
            <a:picLocks noChangeAspect="1"/>
          </p:cNvPicPr>
          <p:nvPr/>
        </p:nvPicPr>
        <p:blipFill>
          <a:blip r:embed="rId3"/>
          <a:stretch>
            <a:fillRect/>
          </a:stretch>
        </p:blipFill>
        <p:spPr>
          <a:xfrm>
            <a:off x="4315968" y="1837372"/>
            <a:ext cx="3703320" cy="2314574"/>
          </a:xfrm>
          <a:prstGeom prst="rect">
            <a:avLst/>
          </a:prstGeom>
        </p:spPr>
      </p:pic>
      <p:sp>
        <p:nvSpPr>
          <p:cNvPr id="9" name="Rectangle 8"/>
          <p:cNvSpPr/>
          <p:nvPr/>
        </p:nvSpPr>
        <p:spPr>
          <a:xfrm>
            <a:off x="8138160" y="1880235"/>
            <a:ext cx="3566160" cy="2228850"/>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lflow_model_registry.png"/>
          <p:cNvPicPr>
            <a:picLocks noChangeAspect="1"/>
          </p:cNvPicPr>
          <p:nvPr/>
        </p:nvPicPr>
        <p:blipFill>
          <a:blip r:embed="rId4"/>
          <a:stretch>
            <a:fillRect/>
          </a:stretch>
        </p:blipFill>
        <p:spPr>
          <a:xfrm>
            <a:off x="8138160" y="1880235"/>
            <a:ext cx="3566160" cy="2228850"/>
          </a:xfrm>
          <a:prstGeom prst="rect">
            <a:avLst/>
          </a:prstGeom>
        </p:spPr>
      </p:pic>
      <p:sp>
        <p:nvSpPr>
          <p:cNvPr id="11" name="TextBox 10"/>
          <p:cNvSpPr txBox="1"/>
          <p:nvPr/>
        </p:nvSpPr>
        <p:spPr>
          <a:xfrm>
            <a:off x="502920" y="1371600"/>
            <a:ext cx="10972800" cy="274320"/>
          </a:xfrm>
          <a:prstGeom prst="rect">
            <a:avLst/>
          </a:prstGeom>
          <a:noFill/>
        </p:spPr>
        <p:txBody>
          <a:bodyPr wrap="square" anchor="t" lIns="0" rIns="0" tIns="0" bIns="0">
            <a:spAutoFit/>
          </a:bodyPr>
          <a:lstStyle/>
          <a:p/>
        </p:txBody>
      </p:sp>
      <p:sp>
        <p:nvSpPr>
          <p:cNvPr id="12" name="TextBox 11"/>
          <p:cNvSpPr txBox="1"/>
          <p:nvPr/>
        </p:nvSpPr>
        <p:spPr>
          <a:xfrm>
            <a:off x="502920" y="4434840"/>
            <a:ext cx="3657600" cy="274320"/>
          </a:xfrm>
          <a:prstGeom prst="rect">
            <a:avLst/>
          </a:prstGeom>
          <a:noFill/>
        </p:spPr>
        <p:txBody>
          <a:bodyPr wrap="square" anchor="t" lIns="0" rIns="0" tIns="0" bIns="0">
            <a:spAutoFit/>
          </a:bodyPr>
          <a:lstStyle/>
          <a:p>
            <a:pPr algn="ctr">
              <a:spcBef>
                <a:spcPts val="0"/>
              </a:spcBef>
              <a:spcAft>
                <a:spcPts val="400"/>
              </a:spcAft>
            </a:pPr>
            <a:r>
              <a:rPr sz="1050" b="1" i="0">
                <a:solidFill>
                  <a:srgbClr val="6B7280"/>
                </a:solidFill>
                <a:latin typeface="Calibri"/>
              </a:rPr>
              <a:t>departure · 73 runs</a:t>
            </a:r>
          </a:p>
        </p:txBody>
      </p:sp>
      <p:sp>
        <p:nvSpPr>
          <p:cNvPr id="13" name="TextBox 12"/>
          <p:cNvSpPr txBox="1"/>
          <p:nvPr/>
        </p:nvSpPr>
        <p:spPr>
          <a:xfrm>
            <a:off x="4315968" y="4434840"/>
            <a:ext cx="3657600" cy="274320"/>
          </a:xfrm>
          <a:prstGeom prst="rect">
            <a:avLst/>
          </a:prstGeom>
          <a:noFill/>
        </p:spPr>
        <p:txBody>
          <a:bodyPr wrap="square" anchor="t" lIns="0" rIns="0" tIns="0" bIns="0">
            <a:spAutoFit/>
          </a:bodyPr>
          <a:lstStyle/>
          <a:p>
            <a:pPr algn="ctr">
              <a:spcBef>
                <a:spcPts val="0"/>
              </a:spcBef>
              <a:spcAft>
                <a:spcPts val="400"/>
              </a:spcAft>
            </a:pPr>
            <a:r>
              <a:rPr sz="1050" b="1" i="0">
                <a:solidFill>
                  <a:srgbClr val="6B7280"/>
                </a:solidFill>
                <a:latin typeface="Calibri"/>
              </a:rPr>
              <a:t>arrival · 57 runs</a:t>
            </a:r>
          </a:p>
        </p:txBody>
      </p:sp>
      <p:sp>
        <p:nvSpPr>
          <p:cNvPr id="14" name="TextBox 13"/>
          <p:cNvSpPr txBox="1"/>
          <p:nvPr/>
        </p:nvSpPr>
        <p:spPr>
          <a:xfrm>
            <a:off x="8138160" y="4434840"/>
            <a:ext cx="3657600" cy="274320"/>
          </a:xfrm>
          <a:prstGeom prst="rect">
            <a:avLst/>
          </a:prstGeom>
          <a:noFill/>
        </p:spPr>
        <p:txBody>
          <a:bodyPr wrap="square" anchor="t" lIns="0" rIns="0" tIns="0" bIns="0">
            <a:spAutoFit/>
          </a:bodyPr>
          <a:lstStyle/>
          <a:p>
            <a:pPr algn="ctr">
              <a:spcBef>
                <a:spcPts val="0"/>
              </a:spcBef>
              <a:spcAft>
                <a:spcPts val="400"/>
              </a:spcAft>
            </a:pPr>
            <a:r>
              <a:rPr sz="1050" b="1" i="0">
                <a:solidFill>
                  <a:srgbClr val="6B7280"/>
                </a:solidFill>
                <a:latin typeface="Calibri"/>
              </a:rPr>
              <a:t>model registry · production alias</a:t>
            </a:r>
          </a:p>
        </p:txBody>
      </p:sp>
      <p:sp>
        <p:nvSpPr>
          <p:cNvPr id="15" name="TextBox 14"/>
          <p:cNvSpPr txBox="1"/>
          <p:nvPr/>
        </p:nvSpPr>
        <p:spPr>
          <a:xfrm>
            <a:off x="502920" y="4892040"/>
            <a:ext cx="11201400" cy="1280160"/>
          </a:xfrm>
          <a:prstGeom prst="rect">
            <a:avLst/>
          </a:prstGeom>
          <a:noFill/>
        </p:spPr>
        <p:txBody>
          <a:bodyPr wrap="square" anchor="t" lIns="0" rIns="0" tIns="0" bIns="0">
            <a:spAutoFit/>
          </a:bodyPr>
          <a:lstStyle/>
          <a:p>
            <a:pPr algn="l">
              <a:lnSpc>
                <a:spcPct val="108000"/>
              </a:lnSpc>
              <a:spcBef>
                <a:spcPts val="0"/>
              </a:spcBef>
              <a:spcAft>
                <a:spcPts val="400"/>
              </a:spcAft>
            </a:pPr>
            <a:r>
              <a:rPr sz="1250" b="0" i="0">
                <a:solidFill>
                  <a:srgbClr val="1F2937"/>
                </a:solidFill>
                <a:latin typeface="Calibri"/>
              </a:rPr>
              <a:t>Tracking server on EC2 with an S3 artifact store. Experiments bixi-demand-departure / -arrival capture every candidate, FLAML and Optuna run (params, metrics, model). The best run per target is registered and promoted to the production alias — the exact artifact the apps serve.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ults_performance_slide.png"/>
          <p:cNvPicPr>
            <a:picLocks noChangeAspect="1"/>
          </p:cNvPicPr>
          <p:nvPr/>
        </p:nvPicPr>
        <p:blipFill>
          <a:blip r:embed="rId2"/>
          <a:stretch>
            <a:fillRect/>
          </a:stretch>
        </p:blipFill>
        <p:spPr>
          <a:xfrm>
            <a:off x="0" y="175585"/>
            <a:ext cx="12191695" cy="6506829"/>
          </a:xfrm>
          <a:prstGeom prst="rect">
            <a:avLst/>
          </a:prstGeom>
        </p:spPr>
      </p:pic>
      <p:sp>
        <p:nvSpPr>
          <p:cNvPr id="3" name="Rectangle 2"/>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402775" y="274320"/>
            <a:ext cx="2286000" cy="384048"/>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Othmane Zizi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1D4ED8"/>
                </a:solidFill>
                <a:latin typeface="Calibri"/>
              </a:rPr>
              <a:t>RESPONSIBLE AI</a:t>
            </a:r>
          </a:p>
          <a:p>
            <a:pPr algn="l">
              <a:spcBef>
                <a:spcPts val="0"/>
              </a:spcBef>
              <a:spcAft>
                <a:spcPts val="0"/>
              </a:spcAft>
            </a:pPr>
            <a:r>
              <a:rPr sz="2700" b="1" i="0">
                <a:solidFill>
                  <a:srgbClr val="111827"/>
                </a:solidFill>
                <a:latin typeface="Calibri"/>
              </a:rPr>
              <a:t>Explainability — SHAP &amp; LIME on both models</a:t>
            </a:r>
          </a:p>
        </p:txBody>
      </p:sp>
      <p:sp>
        <p:nvSpPr>
          <p:cNvPr id="4" name="Rounded Rectangle 3"/>
          <p:cNvSpPr/>
          <p:nvPr/>
        </p:nvSpPr>
        <p:spPr>
          <a:xfrm>
            <a:off x="9402775" y="384048"/>
            <a:ext cx="2286000" cy="42062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Othmane Zizi</a:t>
            </a:r>
          </a:p>
        </p:txBody>
      </p:sp>
      <p:sp>
        <p:nvSpPr>
          <p:cNvPr id="5" name="Rectangle 4"/>
          <p:cNvSpPr/>
          <p:nvPr/>
        </p:nvSpPr>
        <p:spPr>
          <a:xfrm>
            <a:off x="1679977" y="1554480"/>
            <a:ext cx="3086564" cy="3200400"/>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hap_beeswarm_departure.png"/>
          <p:cNvPicPr>
            <a:picLocks noChangeAspect="1"/>
          </p:cNvPicPr>
          <p:nvPr/>
        </p:nvPicPr>
        <p:blipFill>
          <a:blip r:embed="rId2"/>
          <a:stretch>
            <a:fillRect/>
          </a:stretch>
        </p:blipFill>
        <p:spPr>
          <a:xfrm>
            <a:off x="1679977" y="1554480"/>
            <a:ext cx="3086564" cy="3200400"/>
          </a:xfrm>
          <a:prstGeom prst="rect">
            <a:avLst/>
          </a:prstGeom>
        </p:spPr>
      </p:pic>
      <p:sp>
        <p:nvSpPr>
          <p:cNvPr id="7" name="Rectangle 6"/>
          <p:cNvSpPr/>
          <p:nvPr/>
        </p:nvSpPr>
        <p:spPr>
          <a:xfrm>
            <a:off x="7257817" y="1554480"/>
            <a:ext cx="3086564" cy="3200400"/>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ap_beeswarm_arrival.png"/>
          <p:cNvPicPr>
            <a:picLocks noChangeAspect="1"/>
          </p:cNvPicPr>
          <p:nvPr/>
        </p:nvPicPr>
        <p:blipFill>
          <a:blip r:embed="rId3"/>
          <a:stretch>
            <a:fillRect/>
          </a:stretch>
        </p:blipFill>
        <p:spPr>
          <a:xfrm>
            <a:off x="7257817" y="1554480"/>
            <a:ext cx="3086564" cy="3200400"/>
          </a:xfrm>
          <a:prstGeom prst="rect">
            <a:avLst/>
          </a:prstGeom>
        </p:spPr>
      </p:pic>
      <p:sp>
        <p:nvSpPr>
          <p:cNvPr id="9" name="TextBox 8"/>
          <p:cNvSpPr txBox="1"/>
          <p:nvPr/>
        </p:nvSpPr>
        <p:spPr>
          <a:xfrm>
            <a:off x="502920" y="4800600"/>
            <a:ext cx="5440680" cy="274320"/>
          </a:xfrm>
          <a:prstGeom prst="rect">
            <a:avLst/>
          </a:prstGeom>
          <a:noFill/>
        </p:spPr>
        <p:txBody>
          <a:bodyPr wrap="square" anchor="t" lIns="0" rIns="0" tIns="0" bIns="0">
            <a:spAutoFit/>
          </a:bodyPr>
          <a:lstStyle/>
          <a:p>
            <a:pPr algn="ctr">
              <a:spcBef>
                <a:spcPts val="0"/>
              </a:spcBef>
              <a:spcAft>
                <a:spcPts val="400"/>
              </a:spcAft>
            </a:pPr>
            <a:r>
              <a:rPr sz="1050" b="1" i="0">
                <a:solidFill>
                  <a:srgbClr val="6B7280"/>
                </a:solidFill>
                <a:latin typeface="Calibri"/>
              </a:rPr>
              <a:t>SHAP · departure</a:t>
            </a:r>
          </a:p>
        </p:txBody>
      </p:sp>
      <p:sp>
        <p:nvSpPr>
          <p:cNvPr id="10" name="TextBox 9"/>
          <p:cNvSpPr txBox="1"/>
          <p:nvPr/>
        </p:nvSpPr>
        <p:spPr>
          <a:xfrm>
            <a:off x="6080760" y="4800600"/>
            <a:ext cx="5440680" cy="274320"/>
          </a:xfrm>
          <a:prstGeom prst="rect">
            <a:avLst/>
          </a:prstGeom>
          <a:noFill/>
        </p:spPr>
        <p:txBody>
          <a:bodyPr wrap="square" anchor="t" lIns="0" rIns="0" tIns="0" bIns="0">
            <a:spAutoFit/>
          </a:bodyPr>
          <a:lstStyle/>
          <a:p>
            <a:pPr algn="ctr">
              <a:spcBef>
                <a:spcPts val="0"/>
              </a:spcBef>
              <a:spcAft>
                <a:spcPts val="400"/>
              </a:spcAft>
            </a:pPr>
            <a:r>
              <a:rPr sz="1050" b="1" i="0">
                <a:solidFill>
                  <a:srgbClr val="6B7280"/>
                </a:solidFill>
                <a:latin typeface="Calibri"/>
              </a:rPr>
              <a:t>SHAP · arrival</a:t>
            </a:r>
          </a:p>
        </p:txBody>
      </p:sp>
      <p:sp>
        <p:nvSpPr>
          <p:cNvPr id="11" name="TextBox 10"/>
          <p:cNvSpPr txBox="1"/>
          <p:nvPr/>
        </p:nvSpPr>
        <p:spPr>
          <a:xfrm>
            <a:off x="502920" y="5166360"/>
            <a:ext cx="11201400" cy="1097280"/>
          </a:xfrm>
          <a:prstGeom prst="rect">
            <a:avLst/>
          </a:prstGeom>
          <a:noFill/>
        </p:spPr>
        <p:txBody>
          <a:bodyPr wrap="square" anchor="t" lIns="0" rIns="0" tIns="0" bIns="0">
            <a:spAutoFit/>
          </a:bodyPr>
          <a:lstStyle/>
          <a:p>
            <a:pPr algn="l">
              <a:lnSpc>
                <a:spcPct val="108000"/>
              </a:lnSpc>
              <a:spcBef>
                <a:spcPts val="0"/>
              </a:spcBef>
              <a:spcAft>
                <a:spcPts val="400"/>
              </a:spcAft>
            </a:pPr>
            <a:r>
              <a:rPr sz="1250" b="0" i="0">
                <a:solidFill>
                  <a:srgbClr val="1F2937"/>
                </a:solidFill>
                <a:latin typeface="Calibri"/>
              </a:rPr>
              <a:t>Most signal comes from the 2024 historical baselines and cyclical time-of-day; weather is a secondary driver. LIME force plots explain individual predictions. Same story for departures and arrivals — the model is behaving sensibly.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1D4ED8"/>
                </a:solidFill>
                <a:latin typeface="Calibri"/>
              </a:rPr>
              <a:t>RESPONSIBLE AI &amp; MONITORING</a:t>
            </a:r>
          </a:p>
          <a:p>
            <a:pPr algn="l">
              <a:spcBef>
                <a:spcPts val="0"/>
              </a:spcBef>
              <a:spcAft>
                <a:spcPts val="0"/>
              </a:spcAft>
            </a:pPr>
            <a:r>
              <a:rPr sz="2700" b="1" i="0">
                <a:solidFill>
                  <a:srgbClr val="111827"/>
                </a:solidFill>
                <a:latin typeface="Calibri"/>
              </a:rPr>
              <a:t>Fairness &amp; four-type drift monitoring</a:t>
            </a:r>
          </a:p>
        </p:txBody>
      </p:sp>
      <p:sp>
        <p:nvSpPr>
          <p:cNvPr id="4" name="Rounded Rectangle 3"/>
          <p:cNvSpPr/>
          <p:nvPr/>
        </p:nvSpPr>
        <p:spPr>
          <a:xfrm>
            <a:off x="9402775" y="384048"/>
            <a:ext cx="2286000" cy="42062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Othmane Zizi</a:t>
            </a:r>
          </a:p>
        </p:txBody>
      </p:sp>
      <p:sp>
        <p:nvSpPr>
          <p:cNvPr id="5" name="Rounded Rectangle 4"/>
          <p:cNvSpPr/>
          <p:nvPr/>
        </p:nvSpPr>
        <p:spPr>
          <a:xfrm>
            <a:off x="502920" y="1554480"/>
            <a:ext cx="3657600" cy="4572000"/>
          </a:xfrm>
          <a:prstGeom prst="roundRect">
            <a:avLst>
              <a:gd name="adj" fmla="val 4000"/>
            </a:avLst>
          </a:prstGeom>
          <a:solidFill>
            <a:srgbClr val="F9FA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91640"/>
            <a:ext cx="3246120" cy="4297680"/>
          </a:xfrm>
          <a:prstGeom prst="rect">
            <a:avLst/>
          </a:prstGeom>
          <a:noFill/>
        </p:spPr>
        <p:txBody>
          <a:bodyPr wrap="square" anchor="t" lIns="0" rIns="0" tIns="0" bIns="0">
            <a:spAutoFit/>
          </a:bodyPr>
          <a:lstStyle/>
          <a:p>
            <a:pPr algn="l">
              <a:spcBef>
                <a:spcPts val="0"/>
              </a:spcBef>
              <a:spcAft>
                <a:spcPts val="600"/>
              </a:spcAft>
            </a:pPr>
            <a:r>
              <a:rPr sz="1500" b="1" i="0">
                <a:solidFill>
                  <a:srgbClr val="1D4ED8"/>
                </a:solidFill>
                <a:latin typeface="Calibri"/>
              </a:rPr>
              <a:t>Fairness</a:t>
            </a:r>
          </a:p>
          <a:p>
            <a:pPr algn="l">
              <a:lnSpc>
                <a:spcPct val="105000"/>
              </a:lnSpc>
              <a:spcBef>
                <a:spcPts val="0"/>
              </a:spcBef>
              <a:spcAft>
                <a:spcPts val="800"/>
              </a:spcAft>
            </a:pPr>
            <a:r>
              <a:rPr sz="1150" b="1" i="0">
                <a:solidFill>
                  <a:srgbClr val="B91C1C"/>
                </a:solidFill>
                <a:latin typeface="Calibri"/>
              </a:rPr>
              <a:t>●  </a:t>
            </a:r>
            <a:r>
              <a:rPr sz="1150" b="0" i="0">
                <a:solidFill>
                  <a:srgbClr val="1F2937"/>
                </a:solidFill>
                <a:latin typeface="Calibri"/>
              </a:rPr>
              <a:t>Error parity (RMSE/MAE) across demand tiers and geography.</a:t>
            </a:r>
          </a:p>
          <a:p>
            <a:pPr algn="l">
              <a:lnSpc>
                <a:spcPct val="105000"/>
              </a:lnSpc>
              <a:spcBef>
                <a:spcPts val="0"/>
              </a:spcBef>
              <a:spcAft>
                <a:spcPts val="800"/>
              </a:spcAft>
            </a:pPr>
            <a:r>
              <a:rPr sz="1150" b="1" i="0">
                <a:solidFill>
                  <a:srgbClr val="B91C1C"/>
                </a:solidFill>
                <a:latin typeface="Calibri"/>
              </a:rPr>
              <a:t>●  </a:t>
            </a:r>
            <a:r>
              <a:rPr sz="1150" b="0" i="0">
                <a:solidFill>
                  <a:srgbClr val="1F2937"/>
                </a:solidFill>
                <a:latin typeface="Calibri"/>
              </a:rPr>
              <a:t>Accuracy concentrates in high-demand stations; low-tier R² is near zero.</a:t>
            </a:r>
          </a:p>
          <a:p>
            <a:pPr algn="l">
              <a:lnSpc>
                <a:spcPct val="105000"/>
              </a:lnSpc>
              <a:spcBef>
                <a:spcPts val="0"/>
              </a:spcBef>
              <a:spcAft>
                <a:spcPts val="800"/>
              </a:spcAft>
            </a:pPr>
            <a:r>
              <a:rPr sz="1150" b="1" i="0">
                <a:solidFill>
                  <a:srgbClr val="B91C1C"/>
                </a:solidFill>
                <a:latin typeface="Calibri"/>
              </a:rPr>
              <a:t>●  </a:t>
            </a:r>
            <a:r>
              <a:rPr sz="1150" b="0" i="0">
                <a:solidFill>
                  <a:srgbClr val="1F2937"/>
                </a:solidFill>
                <a:latin typeface="Calibri"/>
              </a:rPr>
              <a:t>Flagged so operators don’t over-trust quiet-station forecasts.</a:t>
            </a:r>
          </a:p>
          <a:p>
            <a:pPr algn="l">
              <a:spcBef>
                <a:spcPts val="600"/>
              </a:spcBef>
              <a:spcAft>
                <a:spcPts val="500"/>
              </a:spcAft>
            </a:pPr>
            <a:r>
              <a:rPr sz="1400" b="1" i="0">
                <a:solidFill>
                  <a:srgbClr val="1D4ED8"/>
                </a:solidFill>
                <a:latin typeface="Calibri"/>
              </a:rPr>
              <a:t>Four drift types (Evidently)</a:t>
            </a:r>
          </a:p>
          <a:p>
            <a:pPr algn="l">
              <a:spcBef>
                <a:spcPts val="0"/>
              </a:spcBef>
              <a:spcAft>
                <a:spcPts val="400"/>
              </a:spcAft>
            </a:pPr>
            <a:r>
              <a:rPr sz="1150" b="1" i="0">
                <a:solidFill>
                  <a:srgbClr val="B91C1C"/>
                </a:solidFill>
                <a:latin typeface="Calibri"/>
              </a:rPr>
              <a:t>▸  </a:t>
            </a:r>
            <a:r>
              <a:rPr sz="1150" b="0" i="0">
                <a:solidFill>
                  <a:srgbClr val="1F2937"/>
                </a:solidFill>
                <a:latin typeface="Calibri"/>
              </a:rPr>
              <a:t>feature</a:t>
            </a:r>
          </a:p>
          <a:p>
            <a:pPr algn="l">
              <a:spcBef>
                <a:spcPts val="0"/>
              </a:spcBef>
              <a:spcAft>
                <a:spcPts val="400"/>
              </a:spcAft>
            </a:pPr>
            <a:r>
              <a:rPr sz="1150" b="1" i="0">
                <a:solidFill>
                  <a:srgbClr val="B91C1C"/>
                </a:solidFill>
                <a:latin typeface="Calibri"/>
              </a:rPr>
              <a:t>▸  </a:t>
            </a:r>
            <a:r>
              <a:rPr sz="1150" b="0" i="0">
                <a:solidFill>
                  <a:srgbClr val="1F2937"/>
                </a:solidFill>
                <a:latin typeface="Calibri"/>
              </a:rPr>
              <a:t>target</a:t>
            </a:r>
          </a:p>
          <a:p>
            <a:pPr algn="l">
              <a:spcBef>
                <a:spcPts val="0"/>
              </a:spcBef>
              <a:spcAft>
                <a:spcPts val="400"/>
              </a:spcAft>
            </a:pPr>
            <a:r>
              <a:rPr sz="1150" b="1" i="0">
                <a:solidFill>
                  <a:srgbClr val="B91C1C"/>
                </a:solidFill>
                <a:latin typeface="Calibri"/>
              </a:rPr>
              <a:t>▸  </a:t>
            </a:r>
            <a:r>
              <a:rPr sz="1150" b="0" i="0">
                <a:solidFill>
                  <a:srgbClr val="1F2937"/>
                </a:solidFill>
                <a:latin typeface="Calibri"/>
              </a:rPr>
              <a:t>prediction</a:t>
            </a:r>
          </a:p>
          <a:p>
            <a:pPr algn="l">
              <a:spcBef>
                <a:spcPts val="0"/>
              </a:spcBef>
              <a:spcAft>
                <a:spcPts val="400"/>
              </a:spcAft>
            </a:pPr>
            <a:r>
              <a:rPr sz="1150" b="1" i="0">
                <a:solidFill>
                  <a:srgbClr val="B91C1C"/>
                </a:solidFill>
                <a:latin typeface="Calibri"/>
              </a:rPr>
              <a:t>▸  </a:t>
            </a:r>
            <a:r>
              <a:rPr sz="1150" b="0" i="0">
                <a:solidFill>
                  <a:srgbClr val="1F2937"/>
                </a:solidFill>
                <a:latin typeface="Calibri"/>
              </a:rPr>
              <a:t>concept</a:t>
            </a:r>
          </a:p>
        </p:txBody>
      </p:sp>
      <p:sp>
        <p:nvSpPr>
          <p:cNvPr id="7" name="Rectangle 6"/>
          <p:cNvSpPr/>
          <p:nvPr/>
        </p:nvSpPr>
        <p:spPr>
          <a:xfrm>
            <a:off x="4343400" y="1810511"/>
            <a:ext cx="3657600" cy="3602736"/>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rift_feature_departure_oct.png"/>
          <p:cNvPicPr>
            <a:picLocks noChangeAspect="1"/>
          </p:cNvPicPr>
          <p:nvPr/>
        </p:nvPicPr>
        <p:blipFill>
          <a:blip r:embed="rId2"/>
          <a:stretch>
            <a:fillRect/>
          </a:stretch>
        </p:blipFill>
        <p:spPr>
          <a:xfrm>
            <a:off x="4343400" y="1810511"/>
            <a:ext cx="3657600" cy="3602736"/>
          </a:xfrm>
          <a:prstGeom prst="rect">
            <a:avLst/>
          </a:prstGeom>
        </p:spPr>
      </p:pic>
      <p:sp>
        <p:nvSpPr>
          <p:cNvPr id="9" name="Rectangle 8"/>
          <p:cNvSpPr/>
          <p:nvPr/>
        </p:nvSpPr>
        <p:spPr>
          <a:xfrm>
            <a:off x="8929621" y="1554480"/>
            <a:ext cx="1937516" cy="4114800"/>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rift_concept_departure_oct.png"/>
          <p:cNvPicPr>
            <a:picLocks noChangeAspect="1"/>
          </p:cNvPicPr>
          <p:nvPr/>
        </p:nvPicPr>
        <p:blipFill>
          <a:blip r:embed="rId3"/>
          <a:stretch>
            <a:fillRect/>
          </a:stretch>
        </p:blipFill>
        <p:spPr>
          <a:xfrm>
            <a:off x="8929621" y="1554480"/>
            <a:ext cx="1937516" cy="4114800"/>
          </a:xfrm>
          <a:prstGeom prst="rect">
            <a:avLst/>
          </a:prstGeom>
        </p:spPr>
      </p:pic>
      <p:sp>
        <p:nvSpPr>
          <p:cNvPr id="11" name="TextBox 10"/>
          <p:cNvSpPr txBox="1"/>
          <p:nvPr/>
        </p:nvSpPr>
        <p:spPr>
          <a:xfrm>
            <a:off x="4343400" y="5715000"/>
            <a:ext cx="3657600" cy="274320"/>
          </a:xfrm>
          <a:prstGeom prst="rect">
            <a:avLst/>
          </a:prstGeom>
          <a:noFill/>
        </p:spPr>
        <p:txBody>
          <a:bodyPr wrap="square" anchor="t" lIns="0" rIns="0" tIns="0" bIns="0">
            <a:spAutoFit/>
          </a:bodyPr>
          <a:lstStyle/>
          <a:p>
            <a:pPr algn="ctr">
              <a:spcBef>
                <a:spcPts val="0"/>
              </a:spcBef>
              <a:spcAft>
                <a:spcPts val="400"/>
              </a:spcAft>
            </a:pPr>
            <a:r>
              <a:rPr sz="1050" b="1" i="0">
                <a:solidFill>
                  <a:srgbClr val="6B7280"/>
                </a:solidFill>
                <a:latin typeface="Calibri"/>
              </a:rPr>
              <a:t>feature drift · Oct-2025</a:t>
            </a:r>
          </a:p>
        </p:txBody>
      </p:sp>
      <p:sp>
        <p:nvSpPr>
          <p:cNvPr id="12" name="TextBox 11"/>
          <p:cNvSpPr txBox="1"/>
          <p:nvPr/>
        </p:nvSpPr>
        <p:spPr>
          <a:xfrm>
            <a:off x="8092440" y="5715000"/>
            <a:ext cx="3611880" cy="274320"/>
          </a:xfrm>
          <a:prstGeom prst="rect">
            <a:avLst/>
          </a:prstGeom>
          <a:noFill/>
        </p:spPr>
        <p:txBody>
          <a:bodyPr wrap="square" anchor="t" lIns="0" rIns="0" tIns="0" bIns="0">
            <a:spAutoFit/>
          </a:bodyPr>
          <a:lstStyle/>
          <a:p>
            <a:pPr algn="ctr">
              <a:spcBef>
                <a:spcPts val="0"/>
              </a:spcBef>
              <a:spcAft>
                <a:spcPts val="400"/>
              </a:spcAft>
            </a:pPr>
            <a:r>
              <a:rPr sz="1050" b="1" i="0">
                <a:solidFill>
                  <a:srgbClr val="6B7280"/>
                </a:solidFill>
                <a:latin typeface="Calibri"/>
              </a:rPr>
              <a:t>concept drift · Oct-2025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6D28D9"/>
                </a:solidFill>
                <a:latin typeface="Calibri"/>
              </a:rPr>
              <a:t>FROM PREDICTION TO OPERATIONS</a:t>
            </a:r>
          </a:p>
          <a:p>
            <a:pPr algn="l">
              <a:spcBef>
                <a:spcPts val="0"/>
              </a:spcBef>
              <a:spcAft>
                <a:spcPts val="0"/>
              </a:spcAft>
            </a:pPr>
            <a:r>
              <a:rPr sz="2700" b="1" i="0">
                <a:solidFill>
                  <a:srgbClr val="111827"/>
                </a:solidFill>
                <a:latin typeface="Calibri"/>
              </a:rPr>
              <a:t>Net-flow rebalancing — turning forecasts into action</a:t>
            </a:r>
          </a:p>
        </p:txBody>
      </p:sp>
      <p:sp>
        <p:nvSpPr>
          <p:cNvPr id="4" name="Rounded Rectangle 3"/>
          <p:cNvSpPr/>
          <p:nvPr/>
        </p:nvSpPr>
        <p:spPr>
          <a:xfrm>
            <a:off x="9402775" y="384048"/>
            <a:ext cx="2286000" cy="420624"/>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Rui Zhao</a:t>
            </a:r>
          </a:p>
        </p:txBody>
      </p:sp>
      <p:sp>
        <p:nvSpPr>
          <p:cNvPr id="5" name="TextBox 4"/>
          <p:cNvSpPr txBox="1"/>
          <p:nvPr/>
        </p:nvSpPr>
        <p:spPr>
          <a:xfrm>
            <a:off x="502920" y="1481328"/>
            <a:ext cx="11201400" cy="502920"/>
          </a:xfrm>
          <a:prstGeom prst="rect">
            <a:avLst/>
          </a:prstGeom>
          <a:noFill/>
        </p:spPr>
        <p:txBody>
          <a:bodyPr wrap="square" anchor="t" lIns="0" rIns="0" tIns="0" bIns="0">
            <a:spAutoFit/>
          </a:bodyPr>
          <a:lstStyle/>
          <a:p>
            <a:pPr algn="l">
              <a:spcBef>
                <a:spcPts val="0"/>
              </a:spcBef>
              <a:spcAft>
                <a:spcPts val="0"/>
              </a:spcAft>
            </a:pPr>
            <a:r>
              <a:rPr sz="1300" b="1" i="0">
                <a:solidFill>
                  <a:srgbClr val="6D28D9"/>
                </a:solidFill>
                <a:latin typeface="Calibri"/>
              </a:rPr>
              <a:t>net_flow = arrival − departure</a:t>
            </a:r>
            <a:r>
              <a:rPr sz="1200" b="0" i="0">
                <a:solidFill>
                  <a:srgbClr val="1F2937"/>
                </a:solidFill>
                <a:latin typeface="Calibri"/>
              </a:rPr>
              <a:t>   → cumulate across the day → read peak deficit (needs bikes) / peak surplus (needs docks) → rank by severity</a:t>
            </a:r>
          </a:p>
        </p:txBody>
      </p:sp>
      <p:sp>
        <p:nvSpPr>
          <p:cNvPr id="6" name="Rectangle 5"/>
          <p:cNvSpPr/>
          <p:nvPr/>
        </p:nvSpPr>
        <p:spPr>
          <a:xfrm>
            <a:off x="502920" y="2735888"/>
            <a:ext cx="5943600" cy="2803542"/>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balancing_priority.png"/>
          <p:cNvPicPr>
            <a:picLocks noChangeAspect="1"/>
          </p:cNvPicPr>
          <p:nvPr/>
        </p:nvPicPr>
        <p:blipFill>
          <a:blip r:embed="rId2"/>
          <a:stretch>
            <a:fillRect/>
          </a:stretch>
        </p:blipFill>
        <p:spPr>
          <a:xfrm>
            <a:off x="502920" y="2735888"/>
            <a:ext cx="5943600" cy="2803542"/>
          </a:xfrm>
          <a:prstGeom prst="rect">
            <a:avLst/>
          </a:prstGeom>
        </p:spPr>
      </p:pic>
      <p:sp>
        <p:nvSpPr>
          <p:cNvPr id="8" name="Rectangle 7"/>
          <p:cNvSpPr/>
          <p:nvPr/>
        </p:nvSpPr>
        <p:spPr>
          <a:xfrm>
            <a:off x="6583680" y="2072563"/>
            <a:ext cx="5120640" cy="4130192"/>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netflow_station_map.png"/>
          <p:cNvPicPr>
            <a:picLocks noChangeAspect="1"/>
          </p:cNvPicPr>
          <p:nvPr/>
        </p:nvPicPr>
        <p:blipFill>
          <a:blip r:embed="rId3"/>
          <a:stretch>
            <a:fillRect/>
          </a:stretch>
        </p:blipFill>
        <p:spPr>
          <a:xfrm>
            <a:off x="6583680" y="2072563"/>
            <a:ext cx="5120640" cy="413019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6D28D9"/>
                </a:solidFill>
                <a:latin typeface="Calibri"/>
              </a:rPr>
              <a:t>SERVING &amp; PRODUCT</a:t>
            </a:r>
          </a:p>
          <a:p>
            <a:pPr algn="l">
              <a:spcBef>
                <a:spcPts val="0"/>
              </a:spcBef>
              <a:spcAft>
                <a:spcPts val="0"/>
              </a:spcAft>
            </a:pPr>
            <a:r>
              <a:rPr sz="2700" b="1" i="0">
                <a:solidFill>
                  <a:srgbClr val="111827"/>
                </a:solidFill>
                <a:latin typeface="Calibri"/>
              </a:rPr>
              <a:t>The Streamlit app — live demo</a:t>
            </a:r>
          </a:p>
        </p:txBody>
      </p:sp>
      <p:sp>
        <p:nvSpPr>
          <p:cNvPr id="4" name="Rounded Rectangle 3"/>
          <p:cNvSpPr/>
          <p:nvPr/>
        </p:nvSpPr>
        <p:spPr>
          <a:xfrm>
            <a:off x="9402775" y="384048"/>
            <a:ext cx="2286000" cy="420624"/>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Rui Zhao</a:t>
            </a:r>
          </a:p>
        </p:txBody>
      </p:sp>
      <p:sp>
        <p:nvSpPr>
          <p:cNvPr id="5" name="Rectangle 4"/>
          <p:cNvSpPr/>
          <p:nvPr/>
        </p:nvSpPr>
        <p:spPr>
          <a:xfrm>
            <a:off x="1088334" y="1572768"/>
            <a:ext cx="2989690" cy="2148840"/>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reamlit_7day_forecast.png"/>
          <p:cNvPicPr>
            <a:picLocks noChangeAspect="1"/>
          </p:cNvPicPr>
          <p:nvPr/>
        </p:nvPicPr>
        <p:blipFill>
          <a:blip r:embed="rId2"/>
          <a:stretch>
            <a:fillRect/>
          </a:stretch>
        </p:blipFill>
        <p:spPr>
          <a:xfrm>
            <a:off x="1088334" y="1572768"/>
            <a:ext cx="2989690" cy="2148840"/>
          </a:xfrm>
          <a:prstGeom prst="rect">
            <a:avLst/>
          </a:prstGeom>
        </p:spPr>
      </p:pic>
      <p:sp>
        <p:nvSpPr>
          <p:cNvPr id="7" name="TextBox 6"/>
          <p:cNvSpPr txBox="1"/>
          <p:nvPr/>
        </p:nvSpPr>
        <p:spPr>
          <a:xfrm>
            <a:off x="502920" y="3730752"/>
            <a:ext cx="4160520" cy="237744"/>
          </a:xfrm>
          <a:prstGeom prst="rect">
            <a:avLst/>
          </a:prstGeom>
          <a:noFill/>
        </p:spPr>
        <p:txBody>
          <a:bodyPr wrap="square" anchor="t" lIns="0" rIns="0" tIns="0" bIns="0">
            <a:spAutoFit/>
          </a:bodyPr>
          <a:lstStyle/>
          <a:p>
            <a:pPr algn="ctr">
              <a:spcBef>
                <a:spcPts val="0"/>
              </a:spcBef>
              <a:spcAft>
                <a:spcPts val="400"/>
              </a:spcAft>
            </a:pPr>
            <a:r>
              <a:rPr sz="1000" b="1" i="0">
                <a:solidFill>
                  <a:srgbClr val="6B7280"/>
                </a:solidFill>
                <a:latin typeface="Calibri"/>
              </a:rPr>
              <a:t>7-Day Forecast</a:t>
            </a:r>
          </a:p>
        </p:txBody>
      </p:sp>
      <p:sp>
        <p:nvSpPr>
          <p:cNvPr id="8" name="Rectangle 7"/>
          <p:cNvSpPr/>
          <p:nvPr/>
        </p:nvSpPr>
        <p:spPr>
          <a:xfrm>
            <a:off x="5431734" y="1572768"/>
            <a:ext cx="2989690" cy="2148840"/>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reamlit_rebalancing.png"/>
          <p:cNvPicPr>
            <a:picLocks noChangeAspect="1"/>
          </p:cNvPicPr>
          <p:nvPr/>
        </p:nvPicPr>
        <p:blipFill>
          <a:blip r:embed="rId3"/>
          <a:stretch>
            <a:fillRect/>
          </a:stretch>
        </p:blipFill>
        <p:spPr>
          <a:xfrm>
            <a:off x="5431734" y="1572768"/>
            <a:ext cx="2989690" cy="2148840"/>
          </a:xfrm>
          <a:prstGeom prst="rect">
            <a:avLst/>
          </a:prstGeom>
        </p:spPr>
      </p:pic>
      <p:sp>
        <p:nvSpPr>
          <p:cNvPr id="10" name="TextBox 9"/>
          <p:cNvSpPr txBox="1"/>
          <p:nvPr/>
        </p:nvSpPr>
        <p:spPr>
          <a:xfrm>
            <a:off x="4846320" y="3730752"/>
            <a:ext cx="4160520" cy="237744"/>
          </a:xfrm>
          <a:prstGeom prst="rect">
            <a:avLst/>
          </a:prstGeom>
          <a:noFill/>
        </p:spPr>
        <p:txBody>
          <a:bodyPr wrap="square" anchor="t" lIns="0" rIns="0" tIns="0" bIns="0">
            <a:spAutoFit/>
          </a:bodyPr>
          <a:lstStyle/>
          <a:p>
            <a:pPr algn="ctr">
              <a:spcBef>
                <a:spcPts val="0"/>
              </a:spcBef>
              <a:spcAft>
                <a:spcPts val="400"/>
              </a:spcAft>
            </a:pPr>
            <a:r>
              <a:rPr sz="1000" b="1" i="0">
                <a:solidFill>
                  <a:srgbClr val="6B7280"/>
                </a:solidFill>
                <a:latin typeface="Calibri"/>
              </a:rPr>
              <a:t>Rebalancing Priorities</a:t>
            </a:r>
          </a:p>
        </p:txBody>
      </p:sp>
      <p:sp>
        <p:nvSpPr>
          <p:cNvPr id="11" name="Rectangle 10"/>
          <p:cNvSpPr/>
          <p:nvPr/>
        </p:nvSpPr>
        <p:spPr>
          <a:xfrm>
            <a:off x="1088334" y="4014215"/>
            <a:ext cx="2989690" cy="2148840"/>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reamlit_custom_inputs.png"/>
          <p:cNvPicPr>
            <a:picLocks noChangeAspect="1"/>
          </p:cNvPicPr>
          <p:nvPr/>
        </p:nvPicPr>
        <p:blipFill>
          <a:blip r:embed="rId4"/>
          <a:stretch>
            <a:fillRect/>
          </a:stretch>
        </p:blipFill>
        <p:spPr>
          <a:xfrm>
            <a:off x="1088334" y="4014215"/>
            <a:ext cx="2989690" cy="2148840"/>
          </a:xfrm>
          <a:prstGeom prst="rect">
            <a:avLst/>
          </a:prstGeom>
        </p:spPr>
      </p:pic>
      <p:sp>
        <p:nvSpPr>
          <p:cNvPr id="13" name="TextBox 12"/>
          <p:cNvSpPr txBox="1"/>
          <p:nvPr/>
        </p:nvSpPr>
        <p:spPr>
          <a:xfrm>
            <a:off x="502920" y="6172200"/>
            <a:ext cx="4160520" cy="237744"/>
          </a:xfrm>
          <a:prstGeom prst="rect">
            <a:avLst/>
          </a:prstGeom>
          <a:noFill/>
        </p:spPr>
        <p:txBody>
          <a:bodyPr wrap="square" anchor="t" lIns="0" rIns="0" tIns="0" bIns="0">
            <a:spAutoFit/>
          </a:bodyPr>
          <a:lstStyle/>
          <a:p>
            <a:pPr algn="ctr">
              <a:spcBef>
                <a:spcPts val="0"/>
              </a:spcBef>
              <a:spcAft>
                <a:spcPts val="400"/>
              </a:spcAft>
            </a:pPr>
            <a:r>
              <a:rPr sz="1000" b="1" i="0">
                <a:solidFill>
                  <a:srgbClr val="6B7280"/>
                </a:solidFill>
                <a:latin typeface="Calibri"/>
              </a:rPr>
              <a:t>Custom Inputs</a:t>
            </a:r>
          </a:p>
        </p:txBody>
      </p:sp>
      <p:sp>
        <p:nvSpPr>
          <p:cNvPr id="14" name="Rectangle 13"/>
          <p:cNvSpPr/>
          <p:nvPr/>
        </p:nvSpPr>
        <p:spPr>
          <a:xfrm>
            <a:off x="5431734" y="4014215"/>
            <a:ext cx="2989690" cy="2148840"/>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treamlit_monitoring.png"/>
          <p:cNvPicPr>
            <a:picLocks noChangeAspect="1"/>
          </p:cNvPicPr>
          <p:nvPr/>
        </p:nvPicPr>
        <p:blipFill>
          <a:blip r:embed="rId5"/>
          <a:stretch>
            <a:fillRect/>
          </a:stretch>
        </p:blipFill>
        <p:spPr>
          <a:xfrm>
            <a:off x="5431734" y="4014215"/>
            <a:ext cx="2989690" cy="2148840"/>
          </a:xfrm>
          <a:prstGeom prst="rect">
            <a:avLst/>
          </a:prstGeom>
        </p:spPr>
      </p:pic>
      <p:sp>
        <p:nvSpPr>
          <p:cNvPr id="16" name="TextBox 15"/>
          <p:cNvSpPr txBox="1"/>
          <p:nvPr/>
        </p:nvSpPr>
        <p:spPr>
          <a:xfrm>
            <a:off x="4846320" y="6172200"/>
            <a:ext cx="4160520" cy="237744"/>
          </a:xfrm>
          <a:prstGeom prst="rect">
            <a:avLst/>
          </a:prstGeom>
          <a:noFill/>
        </p:spPr>
        <p:txBody>
          <a:bodyPr wrap="square" anchor="t" lIns="0" rIns="0" tIns="0" bIns="0">
            <a:spAutoFit/>
          </a:bodyPr>
          <a:lstStyle/>
          <a:p>
            <a:pPr algn="ctr">
              <a:spcBef>
                <a:spcPts val="0"/>
              </a:spcBef>
              <a:spcAft>
                <a:spcPts val="400"/>
              </a:spcAft>
            </a:pPr>
            <a:r>
              <a:rPr sz="1000" b="1" i="0">
                <a:solidFill>
                  <a:srgbClr val="6B7280"/>
                </a:solidFill>
                <a:latin typeface="Calibri"/>
              </a:rPr>
              <a:t>Model Monitoring</a:t>
            </a:r>
          </a:p>
        </p:txBody>
      </p:sp>
      <p:sp>
        <p:nvSpPr>
          <p:cNvPr id="17" name="Rectangle 16"/>
          <p:cNvSpPr/>
          <p:nvPr/>
        </p:nvSpPr>
        <p:spPr>
          <a:xfrm>
            <a:off x="9098280" y="2294781"/>
            <a:ext cx="2651760" cy="384772"/>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ec2_streamlit_container_running.png"/>
          <p:cNvPicPr>
            <a:picLocks noChangeAspect="1"/>
          </p:cNvPicPr>
          <p:nvPr/>
        </p:nvPicPr>
        <p:blipFill>
          <a:blip r:embed="rId6"/>
          <a:stretch>
            <a:fillRect/>
          </a:stretch>
        </p:blipFill>
        <p:spPr>
          <a:xfrm>
            <a:off x="9098280" y="2294781"/>
            <a:ext cx="2651760" cy="384772"/>
          </a:xfrm>
          <a:prstGeom prst="rect">
            <a:avLst/>
          </a:prstGeom>
        </p:spPr>
      </p:pic>
      <p:sp>
        <p:nvSpPr>
          <p:cNvPr id="19" name="TextBox 18"/>
          <p:cNvSpPr txBox="1"/>
          <p:nvPr/>
        </p:nvSpPr>
        <p:spPr>
          <a:xfrm>
            <a:off x="9098280" y="3419856"/>
            <a:ext cx="2651760" cy="237744"/>
          </a:xfrm>
          <a:prstGeom prst="rect">
            <a:avLst/>
          </a:prstGeom>
          <a:noFill/>
        </p:spPr>
        <p:txBody>
          <a:bodyPr wrap="square" anchor="t" lIns="0" rIns="0" tIns="0" bIns="0">
            <a:spAutoFit/>
          </a:bodyPr>
          <a:lstStyle/>
          <a:p>
            <a:pPr algn="ctr">
              <a:spcBef>
                <a:spcPts val="0"/>
              </a:spcBef>
              <a:spcAft>
                <a:spcPts val="400"/>
              </a:spcAft>
            </a:pPr>
            <a:r>
              <a:rPr sz="1000" b="1" i="0">
                <a:solidFill>
                  <a:srgbClr val="6B7280"/>
                </a:solidFill>
                <a:latin typeface="Calibri"/>
              </a:rPr>
              <a:t>EC2 container running</a:t>
            </a:r>
          </a:p>
        </p:txBody>
      </p:sp>
      <p:sp>
        <p:nvSpPr>
          <p:cNvPr id="20" name="TextBox 19"/>
          <p:cNvSpPr txBox="1"/>
          <p:nvPr/>
        </p:nvSpPr>
        <p:spPr>
          <a:xfrm>
            <a:off x="9098280" y="3886200"/>
            <a:ext cx="2697480" cy="2194560"/>
          </a:xfrm>
          <a:prstGeom prst="rect">
            <a:avLst/>
          </a:prstGeom>
          <a:noFill/>
        </p:spPr>
        <p:txBody>
          <a:bodyPr wrap="square" anchor="t" lIns="0" rIns="0" tIns="0" bIns="0">
            <a:spAutoFit/>
          </a:bodyPr>
          <a:lstStyle/>
          <a:p>
            <a:pPr algn="l">
              <a:spcBef>
                <a:spcPts val="0"/>
              </a:spcBef>
              <a:spcAft>
                <a:spcPts val="600"/>
              </a:spcAft>
            </a:pPr>
            <a:r>
              <a:rPr sz="1300" b="1" i="0">
                <a:solidFill>
                  <a:srgbClr val="6D28D9"/>
                </a:solidFill>
                <a:latin typeface="Calibri"/>
              </a:rPr>
              <a:t>Two live deployments</a:t>
            </a:r>
          </a:p>
          <a:p>
            <a:pPr algn="l">
              <a:spcBef>
                <a:spcPts val="0"/>
              </a:spcBef>
              <a:spcAft>
                <a:spcPts val="100"/>
              </a:spcAft>
            </a:pPr>
            <a:r>
              <a:rPr sz="1100" b="1" i="0">
                <a:solidFill>
                  <a:srgbClr val="111827"/>
                </a:solidFill>
                <a:latin typeface="Calibri"/>
              </a:rPr>
              <a:t>Community Cloud</a:t>
            </a:r>
          </a:p>
          <a:p>
            <a:pPr algn="l">
              <a:spcBef>
                <a:spcPts val="0"/>
              </a:spcBef>
              <a:spcAft>
                <a:spcPts val="800"/>
              </a:spcAft>
            </a:pPr>
            <a:r>
              <a:rPr sz="1000" b="0" i="0">
                <a:solidFill>
                  <a:srgbClr val="1F2937"/>
                </a:solidFill>
                <a:latin typeface="Consolas"/>
              </a:rPr>
              <a:t>bixidemandlocal.streamlit.app</a:t>
            </a:r>
          </a:p>
          <a:p>
            <a:pPr algn="l">
              <a:spcBef>
                <a:spcPts val="0"/>
              </a:spcBef>
              <a:spcAft>
                <a:spcPts val="100"/>
              </a:spcAft>
            </a:pPr>
            <a:r>
              <a:rPr sz="1100" b="1" i="0">
                <a:solidFill>
                  <a:srgbClr val="111827"/>
                </a:solidFill>
                <a:latin typeface="Calibri"/>
              </a:rPr>
              <a:t>EC2 (S3-backed)</a:t>
            </a:r>
          </a:p>
          <a:p>
            <a:pPr algn="l">
              <a:spcBef>
                <a:spcPts val="0"/>
              </a:spcBef>
              <a:spcAft>
                <a:spcPts val="800"/>
              </a:spcAft>
            </a:pPr>
            <a:r>
              <a:rPr sz="1000" b="0" i="0">
                <a:solidFill>
                  <a:srgbClr val="1F2937"/>
                </a:solidFill>
                <a:latin typeface="Consolas"/>
              </a:rPr>
              <a:t>3.16.250.166:8501</a:t>
            </a:r>
          </a:p>
          <a:p>
            <a:pPr algn="l">
              <a:lnSpc>
                <a:spcPct val="105000"/>
              </a:lnSpc>
              <a:spcBef>
                <a:spcPts val="0"/>
              </a:spcBef>
              <a:spcAft>
                <a:spcPts val="0"/>
              </a:spcAft>
            </a:pPr>
            <a:r>
              <a:rPr sz="1050" b="0" i="1">
                <a:solidFill>
                  <a:srgbClr val="6B7280"/>
                </a:solidFill>
                <a:latin typeface="Calibri"/>
              </a:rPr>
              <a:t>Four pages · one shared UI · no AWS needed for the Cloud app.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8869680" cy="960120"/>
          </a:xfrm>
          <a:prstGeom prst="rect">
            <a:avLst/>
          </a:prstGeom>
          <a:noFill/>
        </p:spPr>
        <p:txBody>
          <a:bodyPr wrap="square" anchor="t" lIns="0" rIns="0" tIns="0" bIns="0">
            <a:spAutoFit/>
          </a:bodyPr>
          <a:lstStyle/>
          <a:p>
            <a:pPr algn="l">
              <a:spcBef>
                <a:spcPts val="0"/>
              </a:spcBef>
              <a:spcAft>
                <a:spcPts val="200"/>
              </a:spcAft>
            </a:pPr>
            <a:r>
              <a:rPr sz="1150" b="1" i="0">
                <a:solidFill>
                  <a:srgbClr val="6D28D9"/>
                </a:solidFill>
                <a:latin typeface="Calibri"/>
              </a:rPr>
              <a:t>CONCLUSION</a:t>
            </a:r>
          </a:p>
          <a:p>
            <a:pPr algn="l">
              <a:spcBef>
                <a:spcPts val="0"/>
              </a:spcBef>
              <a:spcAft>
                <a:spcPts val="0"/>
              </a:spcAft>
            </a:pPr>
            <a:r>
              <a:rPr sz="2700" b="1" i="0">
                <a:solidFill>
                  <a:srgbClr val="111827"/>
                </a:solidFill>
                <a:latin typeface="Calibri"/>
              </a:rPr>
              <a:t>What it means — value, limits, and what’s next</a:t>
            </a:r>
          </a:p>
        </p:txBody>
      </p:sp>
      <p:sp>
        <p:nvSpPr>
          <p:cNvPr id="4" name="Rounded Rectangle 3"/>
          <p:cNvSpPr/>
          <p:nvPr/>
        </p:nvSpPr>
        <p:spPr>
          <a:xfrm>
            <a:off x="9402775" y="384048"/>
            <a:ext cx="2286000" cy="420624"/>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150" b="1" i="0">
                <a:solidFill>
                  <a:srgbClr val="FFFFFF"/>
                </a:solidFill>
                <a:latin typeface="Calibri"/>
              </a:rPr>
              <a:t>Rui Zhao</a:t>
            </a:r>
          </a:p>
        </p:txBody>
      </p:sp>
      <p:sp>
        <p:nvSpPr>
          <p:cNvPr id="5" name="Rectangle 4"/>
          <p:cNvSpPr/>
          <p:nvPr/>
        </p:nvSpPr>
        <p:spPr>
          <a:xfrm>
            <a:off x="502920" y="2106445"/>
            <a:ext cx="5852160" cy="2553669"/>
          </a:xfrm>
          <a:prstGeom prst="rect">
            <a:avLst/>
          </a:prstGeom>
          <a:no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ccupancy_trajectory.png"/>
          <p:cNvPicPr>
            <a:picLocks noChangeAspect="1"/>
          </p:cNvPicPr>
          <p:nvPr/>
        </p:nvPicPr>
        <p:blipFill>
          <a:blip r:embed="rId2"/>
          <a:stretch>
            <a:fillRect/>
          </a:stretch>
        </p:blipFill>
        <p:spPr>
          <a:xfrm>
            <a:off x="502920" y="2106445"/>
            <a:ext cx="5852160" cy="2553669"/>
          </a:xfrm>
          <a:prstGeom prst="rect">
            <a:avLst/>
          </a:prstGeom>
        </p:spPr>
      </p:pic>
      <p:sp>
        <p:nvSpPr>
          <p:cNvPr id="7" name="TextBox 6"/>
          <p:cNvSpPr txBox="1"/>
          <p:nvPr/>
        </p:nvSpPr>
        <p:spPr>
          <a:xfrm>
            <a:off x="502920" y="5230368"/>
            <a:ext cx="5852160" cy="274320"/>
          </a:xfrm>
          <a:prstGeom prst="rect">
            <a:avLst/>
          </a:prstGeom>
          <a:noFill/>
        </p:spPr>
        <p:txBody>
          <a:bodyPr wrap="square" anchor="t" lIns="0" rIns="0" tIns="0" bIns="0">
            <a:spAutoFit/>
          </a:bodyPr>
          <a:lstStyle/>
          <a:p>
            <a:pPr algn="ctr">
              <a:spcBef>
                <a:spcPts val="0"/>
              </a:spcBef>
              <a:spcAft>
                <a:spcPts val="400"/>
              </a:spcAft>
            </a:pPr>
            <a:r>
              <a:rPr sz="1000" b="0" i="1">
                <a:solidFill>
                  <a:srgbClr val="6B7280"/>
                </a:solidFill>
                <a:latin typeface="Calibri"/>
              </a:rPr>
              <a:t>relative occupancy starts from a common zero reference</a:t>
            </a:r>
          </a:p>
        </p:txBody>
      </p:sp>
      <p:sp>
        <p:nvSpPr>
          <p:cNvPr id="8" name="TextBox 7"/>
          <p:cNvSpPr txBox="1"/>
          <p:nvPr/>
        </p:nvSpPr>
        <p:spPr>
          <a:xfrm>
            <a:off x="6583680" y="1554480"/>
            <a:ext cx="5120640" cy="4663440"/>
          </a:xfrm>
          <a:prstGeom prst="rect">
            <a:avLst/>
          </a:prstGeom>
          <a:noFill/>
        </p:spPr>
        <p:txBody>
          <a:bodyPr wrap="square" anchor="t" lIns="0" rIns="0" tIns="0" bIns="0">
            <a:spAutoFit/>
          </a:bodyPr>
          <a:lstStyle/>
          <a:p>
            <a:pPr algn="l">
              <a:spcBef>
                <a:spcPts val="0"/>
              </a:spcBef>
              <a:spcAft>
                <a:spcPts val="400"/>
              </a:spcAft>
            </a:pPr>
            <a:r>
              <a:rPr sz="1400" b="1" i="0">
                <a:solidFill>
                  <a:srgbClr val="6D28D9"/>
                </a:solidFill>
                <a:latin typeface="Calibri"/>
              </a:rPr>
              <a:t>Operational value</a:t>
            </a:r>
          </a:p>
          <a:p>
            <a:pPr algn="l">
              <a:lnSpc>
                <a:spcPct val="105000"/>
              </a:lnSpc>
              <a:spcBef>
                <a:spcPts val="0"/>
              </a:spcBef>
              <a:spcAft>
                <a:spcPts val="1000"/>
              </a:spcAft>
            </a:pPr>
            <a:r>
              <a:rPr sz="1150" b="0" i="0">
                <a:solidFill>
                  <a:srgbClr val="1F2937"/>
                </a:solidFill>
                <a:latin typeface="Calibri"/>
              </a:rPr>
              <a:t>A daily, ranked priority list of which stations to service first — grounded in 15-minute departure &amp; arrival forecasts.</a:t>
            </a:r>
          </a:p>
          <a:p>
            <a:pPr algn="l">
              <a:spcBef>
                <a:spcPts val="0"/>
              </a:spcBef>
              <a:spcAft>
                <a:spcPts val="400"/>
              </a:spcAft>
            </a:pPr>
            <a:r>
              <a:rPr sz="1400" b="1" i="0">
                <a:solidFill>
                  <a:srgbClr val="6D28D9"/>
                </a:solidFill>
                <a:latin typeface="Calibri"/>
              </a:rPr>
              <a:t>Honest limitation</a:t>
            </a:r>
          </a:p>
          <a:p>
            <a:pPr algn="l">
              <a:lnSpc>
                <a:spcPct val="105000"/>
              </a:lnSpc>
              <a:spcBef>
                <a:spcPts val="0"/>
              </a:spcBef>
              <a:spcAft>
                <a:spcPts val="1000"/>
              </a:spcAft>
            </a:pPr>
            <a:r>
              <a:rPr sz="1150" b="0" i="0">
                <a:solidFill>
                  <a:srgbClr val="1F2937"/>
                </a:solidFill>
                <a:latin typeface="Calibri"/>
              </a:rPr>
              <a:t>No dock capacity or real-time occupancy in the trip data, so the trajectory is a relative risk ranking — not exact stockout clock-times or fill levels.</a:t>
            </a:r>
          </a:p>
          <a:p>
            <a:pPr algn="l">
              <a:spcBef>
                <a:spcPts val="0"/>
              </a:spcBef>
              <a:spcAft>
                <a:spcPts val="400"/>
              </a:spcAft>
            </a:pPr>
            <a:r>
              <a:rPr sz="1400" b="1" i="0">
                <a:solidFill>
                  <a:srgbClr val="6D28D9"/>
                </a:solidFill>
                <a:latin typeface="Calibri"/>
              </a:rPr>
              <a:t>MLOps maturity &amp; roadmap</a:t>
            </a:r>
          </a:p>
          <a:p>
            <a:pPr algn="l">
              <a:lnSpc>
                <a:spcPct val="104000"/>
              </a:lnSpc>
              <a:spcBef>
                <a:spcPts val="0"/>
              </a:spcBef>
              <a:spcAft>
                <a:spcPts val="600"/>
              </a:spcAft>
            </a:pPr>
            <a:r>
              <a:rPr sz="1150" b="1" i="0">
                <a:solidFill>
                  <a:srgbClr val="B91C1C"/>
                </a:solidFill>
                <a:latin typeface="Calibri"/>
              </a:rPr>
              <a:t>▸  </a:t>
            </a:r>
            <a:r>
              <a:rPr sz="1150" b="0" i="0">
                <a:solidFill>
                  <a:srgbClr val="1F2937"/>
                </a:solidFill>
                <a:latin typeface="Calibri"/>
              </a:rPr>
              <a:t>Tracking + registry, explainability, fairness, 4-type drift, CI, Docker, CDK — end to end.</a:t>
            </a:r>
          </a:p>
          <a:p>
            <a:pPr algn="l">
              <a:lnSpc>
                <a:spcPct val="104000"/>
              </a:lnSpc>
              <a:spcBef>
                <a:spcPts val="0"/>
              </a:spcBef>
              <a:spcAft>
                <a:spcPts val="600"/>
              </a:spcAft>
            </a:pPr>
            <a:r>
              <a:rPr sz="1150" b="1" i="0">
                <a:solidFill>
                  <a:srgbClr val="B91C1C"/>
                </a:solidFill>
                <a:latin typeface="Calibri"/>
              </a:rPr>
              <a:t>▸  </a:t>
            </a:r>
            <a:r>
              <a:rPr sz="1150" b="0" i="0">
                <a:solidFill>
                  <a:srgbClr val="1F2937"/>
                </a:solidFill>
                <a:latin typeface="Calibri"/>
              </a:rPr>
              <a:t>Next: live station-status feed for absolute occupancy; scheduled drift-triggered retrains.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1828800"/>
          </a:xfrm>
          <a:prstGeom prst="rect">
            <a:avLst/>
          </a:prstGeom>
          <a:noFill/>
        </p:spPr>
        <p:txBody>
          <a:bodyPr wrap="square" anchor="t" lIns="0" rIns="0" tIns="0" bIns="0">
            <a:spAutoFit/>
          </a:bodyPr>
          <a:lstStyle/>
          <a:p>
            <a:pPr algn="l">
              <a:spcBef>
                <a:spcPts val="0"/>
              </a:spcBef>
              <a:spcAft>
                <a:spcPts val="600"/>
              </a:spcAft>
            </a:pPr>
            <a:r>
              <a:rPr sz="4600" b="1" i="0">
                <a:solidFill>
                  <a:srgbClr val="FFFFFF"/>
                </a:solidFill>
                <a:latin typeface="Calibri"/>
              </a:rPr>
              <a:t>Thank you</a:t>
            </a:r>
          </a:p>
          <a:p>
            <a:pPr algn="l">
              <a:spcBef>
                <a:spcPts val="0"/>
              </a:spcBef>
              <a:spcAft>
                <a:spcPts val="0"/>
              </a:spcAft>
            </a:pPr>
            <a:r>
              <a:rPr sz="1800" b="0" i="0">
                <a:solidFill>
                  <a:srgbClr val="D1D5DB"/>
                </a:solidFill>
                <a:latin typeface="Calibri"/>
              </a:rPr>
              <a:t>Questions &amp; live demo welcome</a:t>
            </a:r>
          </a:p>
        </p:txBody>
      </p:sp>
      <p:sp>
        <p:nvSpPr>
          <p:cNvPr id="6" name="TextBox 5"/>
          <p:cNvSpPr txBox="1"/>
          <p:nvPr/>
        </p:nvSpPr>
        <p:spPr>
          <a:xfrm>
            <a:off x="822960" y="3611880"/>
            <a:ext cx="10515600" cy="2377440"/>
          </a:xfrm>
          <a:prstGeom prst="rect">
            <a:avLst/>
          </a:prstGeom>
          <a:noFill/>
        </p:spPr>
        <p:txBody>
          <a:bodyPr wrap="square" anchor="t" lIns="0" rIns="0" tIns="0" bIns="0">
            <a:spAutoFit/>
          </a:bodyPr>
          <a:lstStyle/>
          <a:p>
            <a:pPr>
              <a:spcAft>
                <a:spcPts val="1000"/>
              </a:spcAft>
            </a:pPr>
            <a:r>
              <a:rPr sz="1400" b="1" i="0">
                <a:solidFill>
                  <a:srgbClr val="9CA3AF"/>
                </a:solidFill>
                <a:latin typeface="Calibri"/>
              </a:rPr>
              <a:t>Repository    </a:t>
            </a:r>
            <a:r>
              <a:rPr sz="1400" b="0" i="0">
                <a:solidFill>
                  <a:srgbClr val="FFFFFF"/>
                </a:solidFill>
                <a:latin typeface="Consolas"/>
              </a:rPr>
              <a:t>github.com/ruizhaoca/bixi-demand-mlops-platform</a:t>
            </a:r>
          </a:p>
          <a:p>
            <a:pPr>
              <a:spcAft>
                <a:spcPts val="1000"/>
              </a:spcAft>
            </a:pPr>
            <a:r>
              <a:rPr sz="1400" b="1" i="0">
                <a:solidFill>
                  <a:srgbClr val="9CA3AF"/>
                </a:solidFill>
                <a:latin typeface="Calibri"/>
              </a:rPr>
              <a:t>Live demo (Community Cloud)    </a:t>
            </a:r>
            <a:r>
              <a:rPr sz="1400" b="0" i="0">
                <a:solidFill>
                  <a:srgbClr val="FFFFFF"/>
                </a:solidFill>
                <a:latin typeface="Consolas"/>
              </a:rPr>
              <a:t>bixidemandlocal.streamlit.app</a:t>
            </a:r>
          </a:p>
          <a:p>
            <a:pPr>
              <a:spcAft>
                <a:spcPts val="1000"/>
              </a:spcAft>
            </a:pPr>
            <a:r>
              <a:rPr sz="1400" b="1" i="0">
                <a:solidFill>
                  <a:srgbClr val="9CA3AF"/>
                </a:solidFill>
                <a:latin typeface="Calibri"/>
              </a:rPr>
              <a:t>Live demo (EC2)    </a:t>
            </a:r>
            <a:r>
              <a:rPr sz="1400" b="0" i="0">
                <a:solidFill>
                  <a:srgbClr val="FFFFFF"/>
                </a:solidFill>
                <a:latin typeface="Consolas"/>
              </a:rPr>
              <a:t>3.16.250.166:8501</a:t>
            </a:r>
          </a:p>
          <a:p>
            <a:pPr>
              <a:spcBef>
                <a:spcPts val="600"/>
              </a:spcBef>
            </a:pPr>
            <a:r>
              <a:rPr sz="1300" b="1" i="0">
                <a:solidFill>
                  <a:srgbClr val="FCA5A5"/>
                </a:solidFill>
                <a:latin typeface="Calibri"/>
              </a:rPr>
              <a:t>The Bixi Crew  ·  Othmane Zizi  ·  Sarah Liu  ·  Ruihe “Louis” Zhang  ·  Rui Zhao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